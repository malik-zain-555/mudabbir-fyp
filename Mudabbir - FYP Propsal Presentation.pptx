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75" r:id="rId3"/>
    <p:sldId id="276" r:id="rId4"/>
    <p:sldId id="259" r:id="rId5"/>
    <p:sldId id="277" r:id="rId6"/>
    <p:sldId id="279" r:id="rId7"/>
    <p:sldId id="262" r:id="rId8"/>
    <p:sldId id="280" r:id="rId9"/>
    <p:sldId id="264" r:id="rId10"/>
    <p:sldId id="281" r:id="rId11"/>
    <p:sldId id="273" r:id="rId12"/>
    <p:sldId id="282" r:id="rId13"/>
    <p:sldId id="268" r:id="rId14"/>
    <p:sldId id="283" r:id="rId15"/>
    <p:sldId id="270" r:id="rId16"/>
    <p:sldId id="284" r:id="rId17"/>
    <p:sldId id="274" r:id="rId18"/>
    <p:sldId id="278" r:id="rId19"/>
  </p:sldIdLst>
  <p:sldSz cx="9144000" cy="6858000" type="screen4x3"/>
  <p:notesSz cx="7315200" cy="96012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8329B7-62CB-4AE7-866D-AA3E4438686A}">
  <a:tblStyle styleId="{8C8329B7-62CB-4AE7-866D-AA3E443868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167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C88D731E-E9A0-9BE1-7295-2AAD85D7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199C7E7B-6651-5C11-7999-DF711DAA8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BC163293-5238-D81B-4FFB-229C95A73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926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870F8E21-2A93-0392-77F2-61AFDDEE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9D370D5B-9A89-7F48-3354-F57DB69F3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BE2E6D44-0BB3-0F8A-A236-A9B69EFBC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8792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ED9BC3FB-4D97-1F27-7CE1-BB20F10E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E9F75E69-0752-CE80-3171-96883A272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33BD7856-9D77-265A-70CB-D41BE6E60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7640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9A190E-6F52-13B0-E268-D4125FB0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26DB9E7-8130-2F51-56A1-AA4505673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AE1994A-6676-62AA-F960-CC4126EB5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7589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6EBFA6-74B7-9F92-7123-B85E8430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75B6069-A874-4372-3AE7-776D85FDD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22E8EFB-A8DE-381C-D25D-9D580DB8B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6387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2AADDC9-0C65-D691-DD84-B7DF8EC6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118FB060-7AAD-814A-D855-43749F47C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D0FE755-39BE-F077-0B8E-55457C10D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556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73DBAF22-0ED1-E560-DA27-5189DC02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0DE6E5C5-3F9B-5C71-5C1C-6A92D5A0B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8C9A759F-98DE-4EDD-411A-4EEDB8F05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328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0DECE9-5931-F609-1008-DD7945F2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8072765-3D44-82BC-8EE4-9F1EEF14B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5D4EAA3-6428-7C05-A05C-AA3ED9549F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1140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2D53234-D294-6C65-B2EF-E428CB5C2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45198C3-D64B-8E7C-E837-19A18CA1A6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E0429EB-B253-EC5F-8A20-C219F6335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92520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F1EB5E9-A652-76E6-8514-E4822604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DD06432-FCCA-D6EF-6F21-9D318643A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B8DE777-1192-9E0C-A854-FCF24F94C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2742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636CBC99-BFC4-8491-5880-0CB1042C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>
            <a:extLst>
              <a:ext uri="{FF2B5EF4-FFF2-40B4-BE49-F238E27FC236}">
                <a16:creationId xmlns:a16="http://schemas.microsoft.com/office/drawing/2014/main" id="{48F21E84-0F96-2462-D445-620791674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5:notes">
            <a:extLst>
              <a:ext uri="{FF2B5EF4-FFF2-40B4-BE49-F238E27FC236}">
                <a16:creationId xmlns:a16="http://schemas.microsoft.com/office/drawing/2014/main" id="{921EAA16-BBFF-61F6-7E58-D6ED4D426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62357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15BD0AF-6740-C50F-A7FD-2A5962AD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>
            <a:extLst>
              <a:ext uri="{FF2B5EF4-FFF2-40B4-BE49-F238E27FC236}">
                <a16:creationId xmlns:a16="http://schemas.microsoft.com/office/drawing/2014/main" id="{007FB109-FD9D-C744-AA35-21C2B588C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9:notes">
            <a:extLst>
              <a:ext uri="{FF2B5EF4-FFF2-40B4-BE49-F238E27FC236}">
                <a16:creationId xmlns:a16="http://schemas.microsoft.com/office/drawing/2014/main" id="{29A910B4-1023-D2CD-33EC-F123C05BB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605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53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376218"/>
            <a:ext cx="8229600" cy="4749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2327564" y="6356350"/>
            <a:ext cx="42256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2466109" y="6356350"/>
            <a:ext cx="40401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996751" y="2472612"/>
            <a:ext cx="5561045" cy="87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dirty="0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Final Year Project Proposal</a:t>
            </a:r>
            <a:endParaRPr sz="2800" dirty="0">
              <a:solidFill>
                <a:srgbClr val="A5A5A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158904" y="3344185"/>
            <a:ext cx="7201326" cy="2468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Mudabbir</a:t>
            </a:r>
            <a:r>
              <a:rPr lang="en-US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– Facilitating Subject Specific Study of Quran-ul-Hakeem</a:t>
            </a:r>
            <a:endParaRPr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6350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endParaRPr sz="12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63500" lvl="0" indent="0" algn="ctr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Supervised By: Dr Muhammad Sajid Qureshi</a:t>
            </a:r>
            <a:endParaRPr sz="1600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63500" lvl="0" indent="0" algn="ctr" rtl="0">
              <a:lnSpc>
                <a:spcPct val="15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Assistant Professor</a:t>
            </a:r>
            <a:endParaRPr sz="3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86" name="Google Shape;86;p13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41E901-23DD-93D2-7B73-69777AAA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659BA6D3-46E7-34F2-F4CC-B37B02E0B7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>
              <a:lnSpc>
                <a:spcPct val="20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527050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Zain Ali – 57113</a:t>
            </a:r>
          </a:p>
          <a:p>
            <a:pPr marL="527050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Ehtisham Hussain – 56305</a:t>
            </a:r>
          </a:p>
          <a:p>
            <a:pPr marL="527050">
              <a:lnSpc>
                <a:spcPct val="1500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Waleed Ahmad – 56336</a:t>
            </a:r>
            <a:endParaRPr sz="2400" dirty="0"/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72B0DC74-6116-22C0-605F-9CF3270089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622FF737-C978-8C3E-FFA7-2C4886B9D9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E67D89E0-66C5-FF6E-A55F-A7C7275BC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Project Team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864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8570AB-9A72-6E7C-8B47-6676B644A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BEA2E3D4-0A9D-7DBD-9ECF-D7AE6813F4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Relevance of verses with a subject is not well-defined.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and Background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Literature Review and Summary Table</a:t>
            </a:r>
          </a:p>
          <a:p>
            <a:pPr marL="1098550" lvl="1" indent="-457200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Analysis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Proposed Solution &amp; Methodology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Scope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 Breakdown Structure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Roles and Responsibilities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338DC05D-ABBF-7B47-1F31-745D94D00D8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3D3D8B85-E007-8E1E-9B4E-46949467A2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2892A079-C928-113D-E242-5EECB623B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Contents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74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&amp; </a:t>
            </a:r>
            <a:b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</a:p>
        </p:txBody>
      </p:sp>
      <p:sp>
        <p:nvSpPr>
          <p:cNvPr id="109" name="Google Shape;109;p16"/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7E7CF8-26D2-CB7D-BBC0-01A56536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26A60A75-2A07-0921-FF01-C46554E76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AI-powered software platform for subject-specific study of Quran-il-Hakeem.  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Existing software lack topic-based verse relevance ranking. 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Mudabbir retrieves and ranks verses by search relevance. 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Students, self-learners, scholars, and everyday Muslim users.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Assessments reinforce learning from searched topics effectively.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84D1758B-FAB3-58C4-6A35-3237FB010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BF194B5E-5329-D9E5-B185-E6C2F2EDFB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3BB8B6C7-3DAF-C287-3A6B-790F9381A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Introduction &amp; Background</a:t>
            </a:r>
          </a:p>
        </p:txBody>
      </p:sp>
    </p:spTree>
    <p:extLst>
      <p:ext uri="{BB962C8B-B14F-4D97-AF65-F5344CB8AC3E}">
        <p14:creationId xmlns:p14="http://schemas.microsoft.com/office/powerpoint/2010/main" val="377971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28FF3E0-056D-0955-897E-AEB6B4A4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3EB87CE0-4AEF-9CF3-F3CC-E88C880D3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Literature Review / </a:t>
            </a:r>
            <a:b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Benchmarking</a:t>
            </a: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D36AE483-644B-43A0-83BC-DFD21A6E02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9B6EC038-509C-1FE1-CCE2-607CA1883D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6226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Benchmarking</a:t>
            </a:r>
            <a:endParaRPr dirty="0"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33" name="Google Shape;133;p19"/>
          <p:cNvGraphicFramePr/>
          <p:nvPr>
            <p:extLst>
              <p:ext uri="{D42A27DB-BD31-4B8C-83A1-F6EECF244321}">
                <p14:modId xmlns:p14="http://schemas.microsoft.com/office/powerpoint/2010/main" val="1452851529"/>
              </p:ext>
            </p:extLst>
          </p:nvPr>
        </p:nvGraphicFramePr>
        <p:xfrm>
          <a:off x="616865" y="1160434"/>
          <a:ext cx="8005900" cy="4264832"/>
        </p:xfrm>
        <a:graphic>
          <a:graphicData uri="http://schemas.openxmlformats.org/drawingml/2006/table">
            <a:tbl>
              <a:tblPr>
                <a:noFill/>
                <a:tableStyleId>{8C8329B7-62CB-4AE7-866D-AA3E4438686A}</a:tableStyleId>
              </a:tblPr>
              <a:tblGrid>
                <a:gridCol w="345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23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Features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Islam 360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Muslim Pro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Quran For All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dk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Mudabbir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Quran with Translation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Prayer Times, Qibla Finder &amp; Hijri Calendar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lang="en-US"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Keyword / Topic Search (Voice-Enabled)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Daily Duas &amp; </a:t>
                      </a:r>
                      <a:r>
                        <a:rPr lang="en-US" sz="1200" u="none" strike="noStrike" cap="none" dirty="0" err="1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Azkar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Library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lang="en-US"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Audio </a:t>
                      </a:r>
                      <a:r>
                        <a:rPr lang="en-US" sz="1200" u="none" strike="noStrike" cap="none" dirty="0" err="1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Tafseer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Lectures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Word </a:t>
                      </a:r>
                      <a:r>
                        <a:rPr lang="en-US" sz="1200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by 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Word Quran Translation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Salah Tracker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lang="en-US"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AI</a:t>
                      </a:r>
                      <a:r>
                        <a:rPr lang="en-US" sz="1200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Specific Topic 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Search</a:t>
                      </a:r>
                      <a:r>
                        <a:rPr lang="en-US" sz="1200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ing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Verses relevance with the subjects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AI</a:t>
                      </a:r>
                      <a:r>
                        <a:rPr lang="en-US" sz="1200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Generated Summary of subjects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Assessment of the learning of subjects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Micro</a:t>
                      </a:r>
                      <a:r>
                        <a:rPr lang="en-US" sz="1200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Credential Courses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Compilation of </a:t>
                      </a:r>
                      <a:r>
                        <a:rPr lang="en-US" sz="1200" u="none" strike="noStrike" cap="none" dirty="0" err="1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Duroos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, &amp; </a:t>
                      </a:r>
                      <a:r>
                        <a:rPr lang="en-US" sz="1200" u="none" strike="noStrike" cap="none" dirty="0" err="1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Khutbaat</a:t>
                      </a: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 using GenAI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7B4D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E7B4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✓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2A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B2B2A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Text-to-Speech Playback of Results</a:t>
                      </a:r>
                      <a:endParaRPr sz="12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B3261E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Calibri"/>
                        </a:rPr>
                        <a:t>✗</a:t>
                      </a:r>
                      <a:endParaRPr lang="en-US" sz="1300" u="none" strike="noStrike" cap="none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  <a:sym typeface="Calibri"/>
                      </a:endParaRPr>
                    </a:p>
                  </a:txBody>
                  <a:tcPr marL="27425" marR="27425" marT="27425" marB="27425" anchor="ctr">
                    <a:lnL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470039-3E2E-613B-DE2B-CAB5D8C7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445A65FF-ACB5-BD59-2963-A35F89FED2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Gap Analysis / </a:t>
            </a:r>
            <a:b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Identification</a:t>
            </a: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B2904B9F-1D10-1BB7-5665-BA42CB1699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104D4D6B-2CF8-9555-DAB2-954E546C49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6371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Relevance of verses with a subject is not well-defined.</a:t>
            </a:r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Absence of subject-specific search of Quranic versus.</a:t>
            </a:r>
            <a:endParaRPr dirty="0"/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GenAI based summarization of Quranic subjects is unavailable.</a:t>
            </a:r>
            <a:endParaRPr dirty="0"/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There is no facility to assess learning of a Quranic subject.</a:t>
            </a:r>
            <a:endParaRPr dirty="0"/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Availability of micro-credential Quranic courses is required.</a:t>
            </a:r>
            <a:endParaRPr dirty="0"/>
          </a:p>
          <a:p>
            <a:pPr marL="527050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Scholars lack AI-assisted tools for content generation.</a:t>
            </a:r>
            <a:endParaRPr dirty="0"/>
          </a:p>
          <a:p>
            <a:pPr marL="527050" lvl="0" algn="l" rtl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Search results lack audio playback for accessibility.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47" name="Google Shape;147;p21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D48D8EFF-AA6E-7B01-0BB6-697ED4E105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Major Gaps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88AA932-8C01-A7A8-0578-E2E5DC63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7A885313-F370-D2F4-D0E6-558C8A269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407297"/>
            <a:ext cx="7772400" cy="166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</a:t>
            </a: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B3A73887-2B06-C353-98EC-1FF0A4D750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2F4E4C85-6956-C5A1-90C4-D3BF840B8C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00386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011472-FB33-B865-8259-B8526FD3D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73D8DFD9-F8EB-5661-46D2-AE12DBA39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4150" indent="0">
              <a:lnSpc>
                <a:spcPts val="3600"/>
              </a:lnSpc>
              <a:spcBef>
                <a:spcPts val="0"/>
              </a:spcBef>
              <a:buSzPct val="100000"/>
              <a:buNone/>
            </a:pPr>
            <a:r>
              <a:rPr lang="en-US" dirty="0"/>
              <a:t>Currently, the learners and scholars of Quran-il-Hakeem need the following services: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Technological assistance in subject-specific study.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Subject-specific search of Quranic verses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Relevance of verses with a subject is not well-defined.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GenAI based summarization of Quranic subjects.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learning and assess of a Quranic subjects.</a:t>
            </a:r>
            <a:endParaRPr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 of micro-credential Quranic courses.</a:t>
            </a:r>
            <a:endParaRPr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AI-assisted tools for content generation.</a:t>
            </a:r>
            <a:endParaRPr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5AC1CB79-A799-E0F2-BCC2-F54AB3FE5E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8FEC67D1-35E0-39DC-84BA-55B875815F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879A594E-09BF-3970-A87F-197EC539F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233183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DD14B15-79F3-6236-9440-3BE918D3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1E2C6D97-1099-4EDD-B3D7-BB3C0861C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/>
            <a:r>
              <a:rPr lang="en-US" sz="4400" dirty="0">
                <a:latin typeface="Open Sans"/>
                <a:ea typeface="Open Sans"/>
                <a:cs typeface="Open Sans"/>
                <a:sym typeface="Open Sans"/>
              </a:rPr>
              <a:t>Proposed Solution &amp; Methodology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B2871D39-09AC-A96B-57E8-5E96D9E304A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ABD2B69D-5B7A-B4C7-5348-9D8FB7F80D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2669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636CA45C-D65A-7B8C-1231-86F8FF2317D5}"/>
              </a:ext>
            </a:extLst>
          </p:cNvPr>
          <p:cNvSpPr txBox="1">
            <a:spLocks/>
          </p:cNvSpPr>
          <p:nvPr/>
        </p:nvSpPr>
        <p:spPr>
          <a:xfrm>
            <a:off x="457200" y="1152939"/>
            <a:ext cx="8432700" cy="461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84150" indent="0">
              <a:lnSpc>
                <a:spcPts val="36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/>
              <a:t>Development of a web-base software application along with a smartphone application to provide the following services: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Technological assistance in subject-specific study.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Subject-specific search of Quranic verses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Relevance of verses with a subject is not well-defined.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GenAI based summarization of Quranic subjects.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learning and assess of a Quranic subjects.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 of micro-credential Quranic courses.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AI-assisted tools for content generation.</a:t>
            </a:r>
          </a:p>
        </p:txBody>
      </p:sp>
      <p:sp>
        <p:nvSpPr>
          <p:cNvPr id="3" name="Google Shape;130;p19">
            <a:extLst>
              <a:ext uri="{FF2B5EF4-FFF2-40B4-BE49-F238E27FC236}">
                <a16:creationId xmlns:a16="http://schemas.microsoft.com/office/drawing/2014/main" id="{EEDA575A-F2E6-480B-3BB1-B6B3F8896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Proposed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3B3D7CB-A0BC-683F-431B-64F213D3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E8701C50-E8EC-998C-470F-C211EBA06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407297"/>
            <a:ext cx="7772400" cy="166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/>
            <a:r>
              <a:rPr lang="en-US" sz="4400" dirty="0">
                <a:latin typeface="Open Sans"/>
                <a:ea typeface="Open Sans"/>
                <a:cs typeface="Open Sans"/>
                <a:sym typeface="Open Sans"/>
              </a:rPr>
              <a:t>Project Scope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E7B02348-AB20-E0FD-BF2B-BFAE3A061B9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C01E1BD1-68FF-5C4B-673A-037CCD5FB8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37438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DFF57AC4-94C5-99F4-4947-A549AF707979}"/>
              </a:ext>
            </a:extLst>
          </p:cNvPr>
          <p:cNvSpPr txBox="1">
            <a:spLocks/>
          </p:cNvSpPr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84150" indent="0">
              <a:lnSpc>
                <a:spcPts val="36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/>
              <a:t>The intended software applications shall have the following scope: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shall focus on subject-specific learning and content generation. Trivial services like Qibla direction, Salah time etc. shall not be covered. 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learning and assess services will be primarily for the young Muslims learners.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AI-assisted tools for content generation, shall explore only authentic content verified by scholars. </a:t>
            </a:r>
          </a:p>
        </p:txBody>
      </p:sp>
      <p:sp>
        <p:nvSpPr>
          <p:cNvPr id="3" name="Google Shape;130;p19">
            <a:extLst>
              <a:ext uri="{FF2B5EF4-FFF2-40B4-BE49-F238E27FC236}">
                <a16:creationId xmlns:a16="http://schemas.microsoft.com/office/drawing/2014/main" id="{A7CB935C-2795-58D2-891A-BFFEA2FDF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Project Scope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288C5F-F017-E6D6-7064-6F089FAC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0365748E-0DCA-8936-59B1-083D9D0B3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148891"/>
            <a:ext cx="7772400" cy="1919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/>
            <a:r>
              <a:rPr lang="en-US" sz="4400" dirty="0">
                <a:latin typeface="Open Sans"/>
                <a:ea typeface="Open Sans"/>
                <a:cs typeface="Open Sans"/>
                <a:sym typeface="Open Sans"/>
              </a:rPr>
              <a:t>Constraints &amp; </a:t>
            </a: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4400" dirty="0">
                <a:latin typeface="Open Sans"/>
                <a:ea typeface="Open Sans"/>
                <a:cs typeface="Open Sans"/>
                <a:sym typeface="Open Sans"/>
              </a:rPr>
              <a:t>Limitations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9B909959-C8DC-1F2F-F6BB-D518E0C060A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854518" y="6356350"/>
            <a:ext cx="4047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Mudabbir - Subject Specific Study of Quran-ul-Hakeem</a:t>
            </a: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3A510DE2-4694-EF07-A138-959B592852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fld>
            <a:endParaRPr sz="1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4607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B6811D68-8DE2-F6F3-BEF0-D228553E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8B9F68C3-53FD-EEB5-E709-654A533FFA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Mudabbir - Subject Specific Study of Quran-il-Hakeem</a:t>
            </a:r>
            <a:endParaRPr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123A26EE-75E4-9AB0-659F-ECAAE04DCD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1093D46D-CE7E-E17A-BF6C-0C60C75BCF37}"/>
              </a:ext>
            </a:extLst>
          </p:cNvPr>
          <p:cNvSpPr txBox="1">
            <a:spLocks/>
          </p:cNvSpPr>
          <p:nvPr/>
        </p:nvSpPr>
        <p:spPr>
          <a:xfrm>
            <a:off x="457200" y="1152939"/>
            <a:ext cx="8432700" cy="457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84150" indent="0">
              <a:lnSpc>
                <a:spcPts val="36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/>
              <a:t>The intended software applications shall have following limitations: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shall provide the learning content in two languages:</a:t>
            </a:r>
          </a:p>
          <a:p>
            <a:pPr marL="1441450" lvl="2">
              <a:lnSpc>
                <a:spcPts val="3600"/>
              </a:lnSpc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Urdu, and English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Verse relevance ranking requires scholar involvement.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Initially we shall offer only 5 micro-credential courses.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AI-generated content shall require scholar-review to ensure accuracy.</a:t>
            </a:r>
          </a:p>
          <a:p>
            <a:pPr marL="984250" lvl="1">
              <a:lnSpc>
                <a:spcPts val="36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Google Shape;130;p19">
            <a:extLst>
              <a:ext uri="{FF2B5EF4-FFF2-40B4-BE49-F238E27FC236}">
                <a16:creationId xmlns:a16="http://schemas.microsoft.com/office/drawing/2014/main" id="{D191621B-B709-9E65-CCD8-5C51CFC77F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Constraints 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1179687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BE520C-F401-437A-7B63-23AB9413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>
            <a:extLst>
              <a:ext uri="{FF2B5EF4-FFF2-40B4-BE49-F238E27FC236}">
                <a16:creationId xmlns:a16="http://schemas.microsoft.com/office/drawing/2014/main" id="{AD058CAE-8A39-7BCF-A1F7-84FADB7CA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86204" y="2304660"/>
            <a:ext cx="5943600" cy="161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41350" lvl="1" indent="0" algn="ctr">
              <a:lnSpc>
                <a:spcPts val="5400"/>
              </a:lnSpc>
              <a:spcBef>
                <a:spcPts val="0"/>
              </a:spcBef>
              <a:buSzPct val="100000"/>
              <a:buNone/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 ?</a:t>
            </a:r>
          </a:p>
          <a:p>
            <a:pPr marL="641350" lvl="1" indent="0" algn="ctr">
              <a:lnSpc>
                <a:spcPts val="5400"/>
              </a:lnSpc>
              <a:spcBef>
                <a:spcPts val="0"/>
              </a:spcBef>
              <a:buSzPct val="100000"/>
              <a:buNone/>
            </a:pPr>
            <a:r>
              <a:rPr 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Suggestions !</a:t>
            </a:r>
          </a:p>
          <a:p>
            <a:pPr marL="641350" lvl="1" indent="0" algn="ctr">
              <a:spcBef>
                <a:spcPts val="0"/>
              </a:spcBef>
              <a:buSzPct val="100000"/>
              <a:buNone/>
            </a:pP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sp>
        <p:nvSpPr>
          <p:cNvPr id="147" name="Google Shape;147;p21">
            <a:extLst>
              <a:ext uri="{FF2B5EF4-FFF2-40B4-BE49-F238E27FC236}">
                <a16:creationId xmlns:a16="http://schemas.microsoft.com/office/drawing/2014/main" id="{D0F99550-FC32-D85F-239B-C3BBF9DE0DE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253673" y="6356350"/>
            <a:ext cx="44149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Mudabbir - Subject Specific Study of Quran-ul-Hakeem</a:t>
            </a:r>
            <a:endParaRPr/>
          </a:p>
        </p:txBody>
      </p:sp>
      <p:sp>
        <p:nvSpPr>
          <p:cNvPr id="148" name="Google Shape;148;p21">
            <a:extLst>
              <a:ext uri="{FF2B5EF4-FFF2-40B4-BE49-F238E27FC236}">
                <a16:creationId xmlns:a16="http://schemas.microsoft.com/office/drawing/2014/main" id="{3E06EC53-93BA-D848-0421-1E82848156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Google Shape;130;p19">
            <a:extLst>
              <a:ext uri="{FF2B5EF4-FFF2-40B4-BE49-F238E27FC236}">
                <a16:creationId xmlns:a16="http://schemas.microsoft.com/office/drawing/2014/main" id="{4B3219DE-3F2C-7F48-364D-B237B7D779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12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/>
              <a:t>Thank You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234964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735</Words>
  <Application>Microsoft Office PowerPoint</Application>
  <PresentationFormat>On-screen Show (4:3)</PresentationFormat>
  <Paragraphs>184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Open Sans</vt:lpstr>
      <vt:lpstr>Wingdings</vt:lpstr>
      <vt:lpstr>Courier New</vt:lpstr>
      <vt:lpstr>Arial</vt:lpstr>
      <vt:lpstr>Calibri</vt:lpstr>
      <vt:lpstr>Office Theme</vt:lpstr>
      <vt:lpstr>Final Year Project Proposal</vt:lpstr>
      <vt:lpstr>Project Team</vt:lpstr>
      <vt:lpstr>Contents</vt:lpstr>
      <vt:lpstr>Introduction &amp;  Background</vt:lpstr>
      <vt:lpstr>Introduction &amp; Background</vt:lpstr>
      <vt:lpstr>Literature Review /  Benchmarking</vt:lpstr>
      <vt:lpstr>Benchmarking</vt:lpstr>
      <vt:lpstr>Gap Analysis /  Problem Identification</vt:lpstr>
      <vt:lpstr>Major Gaps</vt:lpstr>
      <vt:lpstr>Problem Statement</vt:lpstr>
      <vt:lpstr>Problem Statement</vt:lpstr>
      <vt:lpstr>Proposed Solution &amp; Methodology</vt:lpstr>
      <vt:lpstr>Proposed Solution</vt:lpstr>
      <vt:lpstr>Project Scope</vt:lpstr>
      <vt:lpstr>Project Scope</vt:lpstr>
      <vt:lpstr>Constraints &amp;  Limitations</vt:lpstr>
      <vt:lpstr>Constraints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Sajid</cp:lastModifiedBy>
  <cp:revision>39</cp:revision>
  <dcterms:modified xsi:type="dcterms:W3CDTF">2026-09-08T15:28:02Z</dcterms:modified>
</cp:coreProperties>
</file>