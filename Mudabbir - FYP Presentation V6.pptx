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7315200" cy="9601200"/>
  <p:embeddedFontLst>
    <p:embeddedFont>
      <p:font typeface="Open Sans" panose="020B060603050402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jmp+QJSCgiZjXAWZhkBI0jJbjk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2C8E54-A33C-4995-8279-CF3CB48B92C2}">
  <a:tblStyle styleId="{5B2C8E54-A33C-4995-8279-CF3CB48B92C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726" autoAdjust="0"/>
  </p:normalViewPr>
  <p:slideViewPr>
    <p:cSldViewPr snapToGrid="0">
      <p:cViewPr varScale="1">
        <p:scale>
          <a:sx n="82" d="100"/>
          <a:sy n="82" d="100"/>
        </p:scale>
        <p:origin x="193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" name="Google Shape;15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4" name="Google Shape;17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2" name="Google Shape;18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0" name="Google Shape;19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" name="Google Shape;2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3" name="Google Shape;2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0" name="Google Shape;2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8" name="Google Shape;2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5" name="Google Shape;2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3" name="Google Shape;26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0" name="Google Shape;2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8" name="Google Shape;27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5" name="Google Shape;28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3" name="Google Shape;29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0" name="Google Shape;30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9" name="Google Shape;30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9" name="Google Shape;31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8" name="Google Shape;32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8" name="Google Shape;33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953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457200" y="1376218"/>
            <a:ext cx="8229600" cy="474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0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44444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l">
              <a:lnSpc>
                <a:spcPct val="1625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600">
                <a:solidFill>
                  <a:srgbClr val="97480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42900" algn="l">
              <a:lnSpc>
                <a:spcPct val="1625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600">
                <a:solidFill>
                  <a:srgbClr val="00B05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49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2327564" y="6356350"/>
            <a:ext cx="42256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2466109" y="6356350"/>
            <a:ext cx="40401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com.islam360&amp;pcampaignid=web_shar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com.bitsmedia.android.muslimpro&amp;pcampaignid=web_share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com.greentech.quran&amp;pcampaignid=web_shar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996751" y="2472612"/>
            <a:ext cx="5561045" cy="87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Final Year Project Proposal</a:t>
            </a:r>
            <a:endParaRPr sz="2800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158904" y="3344185"/>
            <a:ext cx="7201326" cy="2468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" lvl="0" indent="0" algn="ctr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Mudabbir</a:t>
            </a: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– Facilitating Subject Specific Study of Quran-ul-Hakeem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3500" lvl="0" indent="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</a:pPr>
            <a:endParaRPr sz="1200" b="1">
              <a:latin typeface="Open Sans"/>
              <a:ea typeface="Open Sans"/>
              <a:cs typeface="Open Sans"/>
              <a:sym typeface="Open Sans"/>
            </a:endParaRPr>
          </a:p>
          <a:p>
            <a:pPr marL="63500" lvl="0" indent="0" algn="ctr" rtl="0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Supervised By: Dr Muhammad Sajid Qureshi</a:t>
            </a:r>
            <a:endParaRPr sz="16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3500" lvl="0" indent="0" algn="ctr" rtl="0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Assistant Professor</a:t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" descr="Riphah.jpg"/>
          <p:cNvPicPr preferRelativeResize="0"/>
          <p:nvPr/>
        </p:nvPicPr>
        <p:blipFill rotWithShape="1">
          <a:blip r:embed="rId4">
            <a:alphaModFix/>
          </a:blip>
          <a:srcRect l="3033" t="4065" r="6926" b="4925"/>
          <a:stretch/>
        </p:blipFill>
        <p:spPr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457200" y="1152939"/>
            <a:ext cx="8432700" cy="461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27050" lvl="0" indent="-190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 sz="2400"/>
          </a:p>
          <a:p>
            <a:pPr marL="5270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Zain Ali – 57113</a:t>
            </a:r>
            <a:endParaRPr/>
          </a:p>
          <a:p>
            <a:pPr marL="5270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Ehtisham Hussain – 56305</a:t>
            </a:r>
            <a:endParaRPr/>
          </a:p>
          <a:p>
            <a:pPr marL="5270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Waleed Ahmad – 56336</a:t>
            </a:r>
            <a:endParaRPr sz="2400"/>
          </a:p>
          <a:p>
            <a:pPr marL="342900" lvl="0" indent="-1397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/>
          </a:p>
        </p:txBody>
      </p:sp>
      <p:sp>
        <p:nvSpPr>
          <p:cNvPr id="92" name="Google Shape;92;p2"/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49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Mudabbir - Subject Specific Study of Quran-ul-Hakeem</a:t>
            </a:r>
            <a:endParaRPr/>
          </a:p>
        </p:txBody>
      </p:sp>
      <p:sp>
        <p:nvSpPr>
          <p:cNvPr id="93" name="Google Shape;93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Team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body" idx="1"/>
          </p:nvPr>
        </p:nvSpPr>
        <p:spPr>
          <a:xfrm>
            <a:off x="457200" y="1152939"/>
            <a:ext cx="8432700" cy="461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27050" lvl="0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Introduction and Background</a:t>
            </a:r>
            <a:endParaRPr sz="1800"/>
          </a:p>
          <a:p>
            <a:pPr marL="527050" lvl="0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1800"/>
              <a:t>Benchmarking </a:t>
            </a: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and Summary Table</a:t>
            </a:r>
            <a:endParaRPr sz="1800"/>
          </a:p>
          <a:p>
            <a:pPr marL="527050" lvl="0" indent="-3302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Gap Analysis</a:t>
            </a:r>
            <a:endParaRPr sz="1800"/>
          </a:p>
          <a:p>
            <a:pPr marL="527050" lvl="0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Problem Statement</a:t>
            </a:r>
            <a:endParaRPr sz="1800"/>
          </a:p>
          <a:p>
            <a:pPr marL="527050" lvl="0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Proposed Solution &amp; Methodology</a:t>
            </a:r>
            <a:endParaRPr sz="1800"/>
          </a:p>
          <a:p>
            <a:pPr marL="527050" lvl="0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Project Scope</a:t>
            </a:r>
            <a:endParaRPr sz="1800"/>
          </a:p>
          <a:p>
            <a:pPr marL="527050" lvl="0" indent="-3302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Constraints &amp; Limitations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marL="527050" lvl="0" indent="-3302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Work Breakdown / Roles</a:t>
            </a:r>
            <a:endParaRPr sz="1800"/>
          </a:p>
          <a:p>
            <a:pPr marL="342900" lvl="0" indent="-1397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3200"/>
              <a:buNone/>
            </a:pPr>
            <a:endParaRPr/>
          </a:p>
        </p:txBody>
      </p:sp>
      <p:sp>
        <p:nvSpPr>
          <p:cNvPr id="100" name="Google Shape;100;p3"/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49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Mudabbir - Subject Specific Study of Quran-ul-Hakeem</a:t>
            </a:r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Contents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914400" y="2148891"/>
            <a:ext cx="7772400" cy="191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latin typeface="Open Sans"/>
                <a:ea typeface="Open Sans"/>
                <a:cs typeface="Open Sans"/>
                <a:sym typeface="Open Sans"/>
              </a:rPr>
              <a:t>Introduction &amp; </a:t>
            </a:r>
            <a:br>
              <a:rPr lang="en-US" sz="4400"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4400">
                <a:latin typeface="Open Sans"/>
                <a:ea typeface="Open Sans"/>
                <a:cs typeface="Open Sans"/>
                <a:sym typeface="Open Sans"/>
              </a:rPr>
              <a:t>Background</a:t>
            </a:r>
            <a:endParaRPr/>
          </a:p>
        </p:txBody>
      </p:sp>
      <p:sp>
        <p:nvSpPr>
          <p:cNvPr id="108" name="Google Shape;108;p4"/>
          <p:cNvSpPr txBox="1">
            <a:spLocks noGrp="1"/>
          </p:cNvSpPr>
          <p:nvPr>
            <p:ph type="ftr" idx="11"/>
          </p:nvPr>
        </p:nvSpPr>
        <p:spPr>
          <a:xfrm>
            <a:off x="2854518" y="6356350"/>
            <a:ext cx="4047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Mudabbir - Subject Specific Study of Quran-ul-Hakeem</a:t>
            </a:r>
            <a:endParaRPr/>
          </a:p>
        </p:txBody>
      </p:sp>
      <p:sp>
        <p:nvSpPr>
          <p:cNvPr id="109" name="Google Shape;109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fld>
            <a:endParaRPr sz="14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>
            <a:spLocks noGrp="1"/>
          </p:cNvSpPr>
          <p:nvPr>
            <p:ph type="body" idx="1"/>
          </p:nvPr>
        </p:nvSpPr>
        <p:spPr>
          <a:xfrm>
            <a:off x="457200" y="1152939"/>
            <a:ext cx="8432700" cy="461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270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b="1" dirty="0">
                <a:latin typeface="Open Sans"/>
                <a:ea typeface="Open Sans"/>
                <a:cs typeface="Open Sans"/>
                <a:sym typeface="Open Sans"/>
              </a:rPr>
              <a:t>Mudabbir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 is an intended AI-powered software platform for subject-specific study of Quran-</a:t>
            </a:r>
            <a:r>
              <a:rPr lang="en-US" dirty="0"/>
              <a:t>ul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-Hakeem.  </a:t>
            </a:r>
          </a:p>
          <a:p>
            <a:pPr marL="5270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dirty="0"/>
              <a:t>It shall provide the following facilities:</a:t>
            </a:r>
            <a:endParaRPr dirty="0"/>
          </a:p>
          <a:p>
            <a:pPr marL="984250" lvl="1">
              <a:lnSpc>
                <a:spcPts val="3000"/>
              </a:lnSpc>
              <a:spcBef>
                <a:spcPts val="0"/>
              </a:spcBef>
              <a:buSzPts val="2000"/>
              <a:buFont typeface="Noto Sans Symbols"/>
              <a:buChar char="▪"/>
            </a:pPr>
            <a:r>
              <a:rPr lang="en-US" dirty="0"/>
              <a:t>Facilitation in subject specific learning of Quran-il-Hakeem.</a:t>
            </a:r>
          </a:p>
          <a:p>
            <a:pPr marL="984250" lvl="1" indent="-342900" algn="l" rtl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dirty="0"/>
              <a:t>Relevance of verses with a subject.</a:t>
            </a:r>
            <a:endParaRPr dirty="0"/>
          </a:p>
          <a:p>
            <a:pPr marL="984250" lvl="1">
              <a:lnSpc>
                <a:spcPts val="3000"/>
              </a:lnSpc>
              <a:spcBef>
                <a:spcPts val="0"/>
              </a:spcBef>
              <a:buSzPts val="2000"/>
              <a:buFont typeface="Noto Sans Symbols"/>
              <a:buChar char="▪"/>
            </a:pPr>
            <a:r>
              <a:rPr lang="en-US" dirty="0"/>
              <a:t>Subject specific search facility.</a:t>
            </a:r>
          </a:p>
          <a:p>
            <a:pPr marL="984250" lvl="1" indent="-342900" algn="l" rtl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dirty="0"/>
              <a:t>GenAI based summarization of Quranic subjects.</a:t>
            </a:r>
            <a:endParaRPr dirty="0"/>
          </a:p>
          <a:p>
            <a:pPr marL="984250" lvl="1" indent="-342900" algn="l" rtl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Learning </a:t>
            </a:r>
            <a:r>
              <a:rPr lang="en-US" dirty="0"/>
              <a:t>assessment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 facility of a Quranic subject.</a:t>
            </a:r>
            <a:endParaRPr dirty="0"/>
          </a:p>
          <a:p>
            <a:pPr marL="984250" lvl="1" indent="-342900" algn="l" rtl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Micro-credential courses of  Quran-il-Hakeem.</a:t>
            </a:r>
            <a:endParaRPr dirty="0"/>
          </a:p>
          <a:p>
            <a:pPr marL="984250" lvl="1">
              <a:lnSpc>
                <a:spcPts val="3000"/>
              </a:lnSpc>
              <a:spcBef>
                <a:spcPts val="0"/>
              </a:spcBef>
              <a:buSzPts val="2000"/>
              <a:buFont typeface="Noto Sans Symbols"/>
              <a:buChar char="▪"/>
            </a:pPr>
            <a:r>
              <a:rPr lang="en-US" dirty="0"/>
              <a:t>AI-assistance for content generation (Khutba, </a:t>
            </a:r>
            <a:r>
              <a:rPr lang="en-US" dirty="0" err="1"/>
              <a:t>Daroos</a:t>
            </a:r>
            <a:r>
              <a:rPr lang="en-US" dirty="0"/>
              <a:t> ).</a:t>
            </a:r>
            <a:endParaRPr dirty="0"/>
          </a:p>
          <a:p>
            <a:pPr marL="342900" lvl="0" indent="-1397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 dirty="0"/>
          </a:p>
        </p:txBody>
      </p:sp>
      <p:sp>
        <p:nvSpPr>
          <p:cNvPr id="115" name="Google Shape;115;p5"/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49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Mudabbir - Subject Specific Study of Quran-ul-Hakeem</a:t>
            </a:r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 &amp; Background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914400" y="2148891"/>
            <a:ext cx="7763807" cy="870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latin typeface="Open Sans"/>
                <a:ea typeface="Open Sans"/>
                <a:cs typeface="Open Sans"/>
                <a:sym typeface="Open Sans"/>
              </a:rPr>
              <a:t>Benchmarking</a:t>
            </a:r>
            <a:endParaRPr/>
          </a:p>
        </p:txBody>
      </p:sp>
      <p:sp>
        <p:nvSpPr>
          <p:cNvPr id="123" name="Google Shape;123;p6"/>
          <p:cNvSpPr txBox="1">
            <a:spLocks noGrp="1"/>
          </p:cNvSpPr>
          <p:nvPr>
            <p:ph type="ftr" idx="11"/>
          </p:nvPr>
        </p:nvSpPr>
        <p:spPr>
          <a:xfrm>
            <a:off x="2854518" y="6356350"/>
            <a:ext cx="4047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Mudabbir - Subject Specific Study of Quran-ul-Hakeem</a:t>
            </a:r>
            <a:endParaRPr/>
          </a:p>
        </p:txBody>
      </p:sp>
      <p:sp>
        <p:nvSpPr>
          <p:cNvPr id="124" name="Google Shape;12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fld>
            <a:endParaRPr sz="14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Benchmarking – Islam 360</a:t>
            </a:r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Islam 360</a:t>
            </a:r>
            <a:endParaRPr dirty="0"/>
          </a:p>
          <a:p>
            <a:pPr marL="914400" lvl="1" indent="-342900" algn="l" rtl="0">
              <a:lnSpc>
                <a:spcPct val="177777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Provides information like:</a:t>
            </a:r>
            <a:endParaRPr dirty="0"/>
          </a:p>
          <a:p>
            <a:pPr marL="1371600" lvl="2" indent="-3429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solidFill>
                  <a:srgbClr val="984807"/>
                </a:solidFill>
                <a:latin typeface="Open Sans"/>
                <a:ea typeface="Open Sans"/>
                <a:cs typeface="Open Sans"/>
                <a:sym typeface="Open Sans"/>
              </a:rPr>
              <a:t>Quran with Translation</a:t>
            </a:r>
            <a:endParaRPr dirty="0">
              <a:solidFill>
                <a:srgbClr val="984807"/>
              </a:solidFill>
            </a:endParaRPr>
          </a:p>
          <a:p>
            <a:pPr marL="1371600" lvl="2" indent="-3429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Audio </a:t>
            </a:r>
            <a:r>
              <a:rPr lang="en-US" dirty="0" err="1">
                <a:latin typeface="Open Sans"/>
                <a:ea typeface="Open Sans"/>
                <a:cs typeface="Open Sans"/>
                <a:sym typeface="Open Sans"/>
              </a:rPr>
              <a:t>Tafseer</a:t>
            </a:r>
            <a:endParaRPr dirty="0"/>
          </a:p>
          <a:p>
            <a:pPr marL="1371600" lvl="2" indent="-3429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Quran recite learning</a:t>
            </a:r>
            <a:endParaRPr dirty="0"/>
          </a:p>
          <a:p>
            <a:pPr marL="1371600" lvl="2" indent="-3429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Word by word Ayat translation</a:t>
            </a:r>
            <a:endParaRPr dirty="0"/>
          </a:p>
          <a:p>
            <a:pPr marL="1371600" lvl="2" indent="-3429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Keyword / Topic Search</a:t>
            </a:r>
            <a:endParaRPr dirty="0"/>
          </a:p>
          <a:p>
            <a:pPr marL="1371600" lvl="2" indent="-2286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>
              <a:latin typeface="Open Sans"/>
              <a:ea typeface="Open Sans"/>
              <a:cs typeface="Open Sans"/>
              <a:sym typeface="Open Sans"/>
            </a:endParaRPr>
          </a:p>
          <a:p>
            <a:pPr marL="1371600" lvl="2" indent="-2286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131" name="Google Shape;131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32" name="Google Shape;132;p31"/>
          <p:cNvSpPr txBox="1">
            <a:spLocks noGrp="1"/>
          </p:cNvSpPr>
          <p:nvPr>
            <p:ph type="ftr" idx="11"/>
          </p:nvPr>
        </p:nvSpPr>
        <p:spPr>
          <a:xfrm>
            <a:off x="1688841" y="6356350"/>
            <a:ext cx="61022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Research Companion – A Recommender System for Novice Research Scholars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91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 dirty="0"/>
              <a:t>Benchmarking – Islam 360</a:t>
            </a:r>
            <a:endParaRPr sz="2800" dirty="0"/>
          </a:p>
        </p:txBody>
      </p:sp>
      <p:sp>
        <p:nvSpPr>
          <p:cNvPr id="138" name="Google Shape;138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39" name="Google Shape;139;p32"/>
          <p:cNvSpPr txBox="1">
            <a:spLocks noGrp="1"/>
          </p:cNvSpPr>
          <p:nvPr>
            <p:ph type="ftr" idx="11"/>
          </p:nvPr>
        </p:nvSpPr>
        <p:spPr>
          <a:xfrm>
            <a:off x="1688841" y="6356350"/>
            <a:ext cx="61022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Research Companion – A Recommender System for Novice Research Scholars</a:t>
            </a:r>
            <a:endParaRPr/>
          </a:p>
        </p:txBody>
      </p:sp>
      <p:sp>
        <p:nvSpPr>
          <p:cNvPr id="140" name="Google Shape;140;p32"/>
          <p:cNvSpPr txBox="1"/>
          <p:nvPr/>
        </p:nvSpPr>
        <p:spPr>
          <a:xfrm>
            <a:off x="6074229" y="5429053"/>
            <a:ext cx="27652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 b="1" i="0" u="sng" strike="noStrike" cap="none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Islam 360</a:t>
            </a:r>
            <a:endParaRPr sz="1800" b="1" i="0" u="none" strike="noStrike" cap="none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pic>
        <p:nvPicPr>
          <p:cNvPr id="141" name="Google Shape;141;p32"/>
          <p:cNvPicPr preferRelativeResize="0"/>
          <p:nvPr/>
        </p:nvPicPr>
        <p:blipFill rotWithShape="1">
          <a:blip r:embed="rId4">
            <a:alphaModFix/>
          </a:blip>
          <a:srcRect l="-3116" t="16667" r="-1983" b="1993"/>
          <a:stretch/>
        </p:blipFill>
        <p:spPr>
          <a:xfrm>
            <a:off x="853931" y="1432603"/>
            <a:ext cx="2407851" cy="37800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42" name="Google Shape;142;p32"/>
          <p:cNvPicPr preferRelativeResize="0"/>
          <p:nvPr/>
        </p:nvPicPr>
        <p:blipFill rotWithShape="1">
          <a:blip r:embed="rId5">
            <a:alphaModFix/>
          </a:blip>
          <a:srcRect l="-123" t="16040" r="-283" b="1983"/>
          <a:stretch/>
        </p:blipFill>
        <p:spPr>
          <a:xfrm>
            <a:off x="3685359" y="1432603"/>
            <a:ext cx="2287965" cy="37800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43" name="Google Shape;143;p32"/>
          <p:cNvPicPr preferRelativeResize="0"/>
          <p:nvPr/>
        </p:nvPicPr>
        <p:blipFill rotWithShape="1">
          <a:blip r:embed="rId6">
            <a:alphaModFix/>
          </a:blip>
          <a:srcRect l="134" t="4008" r="850" b="3962"/>
          <a:stretch/>
        </p:blipFill>
        <p:spPr>
          <a:xfrm>
            <a:off x="6396901" y="1432603"/>
            <a:ext cx="2133600" cy="37800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Benchmarking – Islam 360</a:t>
            </a:r>
            <a:endParaRPr/>
          </a:p>
        </p:txBody>
      </p:sp>
      <p:sp>
        <p:nvSpPr>
          <p:cNvPr id="149" name="Google Shape;149;p33"/>
          <p:cNvSpPr txBox="1">
            <a:spLocks noGrp="1"/>
          </p:cNvSpPr>
          <p:nvPr>
            <p:ph type="body" idx="1"/>
          </p:nvPr>
        </p:nvSpPr>
        <p:spPr>
          <a:xfrm>
            <a:off x="457200" y="1506153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Islam 360</a:t>
            </a:r>
            <a:endParaRPr/>
          </a:p>
          <a:p>
            <a:pPr marL="914400" lvl="1" indent="-342900" algn="l" rtl="0">
              <a:lnSpc>
                <a:spcPct val="177777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However, it does not provide:</a:t>
            </a:r>
            <a:endParaRPr/>
          </a:p>
          <a:p>
            <a:pPr marL="1371600" lvl="2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Verses relevance with subject</a:t>
            </a:r>
            <a:endParaRPr/>
          </a:p>
          <a:p>
            <a:pPr marL="1371600" lvl="2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AI generated summary of subject</a:t>
            </a:r>
            <a:endParaRPr/>
          </a:p>
          <a:p>
            <a:pPr marL="1371600" lvl="2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Assessment of learning of subjects</a:t>
            </a:r>
            <a:endParaRPr/>
          </a:p>
          <a:p>
            <a:pPr marL="1371600" lvl="2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000">
                <a:solidFill>
                  <a:srgbClr val="984807"/>
                </a:solidFill>
                <a:latin typeface="Open Sans"/>
                <a:ea typeface="Open Sans"/>
                <a:cs typeface="Open Sans"/>
                <a:sym typeface="Open Sans"/>
              </a:rPr>
              <a:t>Micro-Credential Courses</a:t>
            </a:r>
            <a:endParaRPr/>
          </a:p>
          <a:p>
            <a:pPr marL="1371600" lvl="2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000">
                <a:solidFill>
                  <a:srgbClr val="984807"/>
                </a:solidFill>
                <a:latin typeface="Open Sans"/>
                <a:ea typeface="Open Sans"/>
                <a:cs typeface="Open Sans"/>
                <a:sym typeface="Open Sans"/>
              </a:rPr>
              <a:t>Compilation of Duroos and Khutbaat using Gen AI</a:t>
            </a:r>
            <a:endParaRPr/>
          </a:p>
          <a:p>
            <a:pPr marL="1371600" lvl="2" indent="-2286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98480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50" name="Google Shape;150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51" name="Google Shape;151;p33"/>
          <p:cNvSpPr txBox="1">
            <a:spLocks noGrp="1"/>
          </p:cNvSpPr>
          <p:nvPr>
            <p:ph type="ftr" idx="11"/>
          </p:nvPr>
        </p:nvSpPr>
        <p:spPr>
          <a:xfrm>
            <a:off x="1688841" y="6356350"/>
            <a:ext cx="61022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Research Companion – A Recommender System for Novice Research Scholars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Benchmarking – Muslim Pro</a:t>
            </a:r>
            <a:endParaRPr/>
          </a:p>
        </p:txBody>
      </p:sp>
      <p:sp>
        <p:nvSpPr>
          <p:cNvPr id="157" name="Google Shape;157;p3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Muslim Pro</a:t>
            </a:r>
            <a:endParaRPr/>
          </a:p>
          <a:p>
            <a:pPr marL="914400" lvl="1" indent="-342900" algn="l" rtl="0">
              <a:lnSpc>
                <a:spcPct val="177777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Provides information like:</a:t>
            </a:r>
            <a:endParaRPr/>
          </a:p>
          <a:p>
            <a:pPr marL="1371600" lvl="2" indent="-3429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984807"/>
                </a:solidFill>
                <a:latin typeface="Open Sans"/>
                <a:ea typeface="Open Sans"/>
                <a:cs typeface="Open Sans"/>
                <a:sym typeface="Open Sans"/>
              </a:rPr>
              <a:t>Quran with Translation</a:t>
            </a:r>
            <a:endParaRPr>
              <a:solidFill>
                <a:srgbClr val="984807"/>
              </a:solidFill>
            </a:endParaRPr>
          </a:p>
          <a:p>
            <a:pPr marL="1371600" lvl="2" indent="-3429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Salah Streak Tracker</a:t>
            </a:r>
            <a:endParaRPr/>
          </a:p>
          <a:p>
            <a:pPr marL="1371600" lvl="2" indent="-3429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Mosque Finder</a:t>
            </a:r>
            <a:endParaRPr/>
          </a:p>
          <a:p>
            <a:pPr marL="1371600" lvl="2" indent="-3429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Islamic Feed / Reels (Ummah)</a:t>
            </a:r>
            <a:endParaRPr/>
          </a:p>
          <a:p>
            <a:pPr marL="1371600" lvl="2" indent="-2286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1371600" lvl="2" indent="-2286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158" name="Google Shape;158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59" name="Google Shape;159;p34"/>
          <p:cNvSpPr txBox="1">
            <a:spLocks noGrp="1"/>
          </p:cNvSpPr>
          <p:nvPr>
            <p:ph type="ftr" idx="11"/>
          </p:nvPr>
        </p:nvSpPr>
        <p:spPr>
          <a:xfrm>
            <a:off x="1688841" y="6356350"/>
            <a:ext cx="61022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Research Companion – A Recommender System for Novice Research Scholars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17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 dirty="0"/>
              <a:t>Benchmarking – Muslim Pro</a:t>
            </a:r>
            <a:endParaRPr dirty="0"/>
          </a:p>
        </p:txBody>
      </p:sp>
      <p:sp>
        <p:nvSpPr>
          <p:cNvPr id="165" name="Google Shape;165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66" name="Google Shape;166;p35"/>
          <p:cNvSpPr txBox="1">
            <a:spLocks noGrp="1"/>
          </p:cNvSpPr>
          <p:nvPr>
            <p:ph type="ftr" idx="11"/>
          </p:nvPr>
        </p:nvSpPr>
        <p:spPr>
          <a:xfrm>
            <a:off x="1688841" y="6356350"/>
            <a:ext cx="61022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Research Companion – A Recommender System for Novice Research Scholars</a:t>
            </a:r>
            <a:endParaRPr/>
          </a:p>
        </p:txBody>
      </p:sp>
      <p:sp>
        <p:nvSpPr>
          <p:cNvPr id="167" name="Google Shape;167;p35"/>
          <p:cNvSpPr txBox="1"/>
          <p:nvPr/>
        </p:nvSpPr>
        <p:spPr>
          <a:xfrm>
            <a:off x="6591725" y="5544471"/>
            <a:ext cx="205921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1400"/>
              <a:buNone/>
              <a:defRPr sz="1800" b="1" u="sng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Muslim Pro </a:t>
            </a:r>
            <a:endParaRPr dirty="0"/>
          </a:p>
        </p:txBody>
      </p:sp>
      <p:pic>
        <p:nvPicPr>
          <p:cNvPr id="168" name="Google Shape;168;p35"/>
          <p:cNvPicPr preferRelativeResize="0"/>
          <p:nvPr/>
        </p:nvPicPr>
        <p:blipFill rotWithShape="1">
          <a:blip r:embed="rId4">
            <a:alphaModFix/>
          </a:blip>
          <a:srcRect l="279" t="5388" r="-279"/>
          <a:stretch/>
        </p:blipFill>
        <p:spPr>
          <a:xfrm>
            <a:off x="1110527" y="1276205"/>
            <a:ext cx="2072011" cy="4305591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69" name="Google Shape;169;p35"/>
          <p:cNvPicPr preferRelativeResize="0"/>
          <p:nvPr/>
        </p:nvPicPr>
        <p:blipFill rotWithShape="1">
          <a:blip r:embed="rId5">
            <a:alphaModFix/>
          </a:blip>
          <a:srcRect l="-14" t="17139" r="1212" b="36437"/>
          <a:stretch/>
        </p:blipFill>
        <p:spPr>
          <a:xfrm>
            <a:off x="3395278" y="1276205"/>
            <a:ext cx="2650165" cy="296026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70" name="Google Shape;170;p35"/>
          <p:cNvPicPr preferRelativeResize="0"/>
          <p:nvPr/>
        </p:nvPicPr>
        <p:blipFill rotWithShape="1">
          <a:blip r:embed="rId6">
            <a:alphaModFix/>
          </a:blip>
          <a:srcRect l="354" t="4430" r="-45" b="75767"/>
          <a:stretch/>
        </p:blipFill>
        <p:spPr>
          <a:xfrm>
            <a:off x="3396052" y="4318474"/>
            <a:ext cx="2649391" cy="12688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71" name="Google Shape;171;p35"/>
          <p:cNvPicPr preferRelativeResize="0"/>
          <p:nvPr/>
        </p:nvPicPr>
        <p:blipFill rotWithShape="1">
          <a:blip r:embed="rId7">
            <a:alphaModFix/>
          </a:blip>
          <a:srcRect l="-593" t="10496" r="-319"/>
          <a:stretch/>
        </p:blipFill>
        <p:spPr>
          <a:xfrm>
            <a:off x="6302476" y="1276204"/>
            <a:ext cx="2130996" cy="4305591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Benchmarking – Muslim Pro</a:t>
            </a:r>
            <a:endParaRPr/>
          </a:p>
        </p:txBody>
      </p:sp>
      <p:sp>
        <p:nvSpPr>
          <p:cNvPr id="177" name="Google Shape;177;p36"/>
          <p:cNvSpPr txBox="1">
            <a:spLocks noGrp="1"/>
          </p:cNvSpPr>
          <p:nvPr>
            <p:ph type="body" idx="1"/>
          </p:nvPr>
        </p:nvSpPr>
        <p:spPr>
          <a:xfrm>
            <a:off x="457200" y="1608794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Muslim Pro</a:t>
            </a:r>
            <a:endParaRPr/>
          </a:p>
          <a:p>
            <a:pPr marL="914400" lvl="1" indent="-342900" algn="l" rtl="0">
              <a:lnSpc>
                <a:spcPct val="177777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However, it does not provide:</a:t>
            </a:r>
            <a:endParaRPr/>
          </a:p>
          <a:p>
            <a:pPr marL="1371600" lvl="2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Verses relevance with subject</a:t>
            </a:r>
            <a:endParaRPr/>
          </a:p>
          <a:p>
            <a:pPr marL="1371600" lvl="2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AI generated summary of subject</a:t>
            </a:r>
            <a:endParaRPr/>
          </a:p>
          <a:p>
            <a:pPr marL="1371600" lvl="2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Assessment of learning of subjects</a:t>
            </a:r>
            <a:endParaRPr/>
          </a:p>
          <a:p>
            <a:pPr marL="1371600" lvl="2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000">
                <a:solidFill>
                  <a:srgbClr val="984807"/>
                </a:solidFill>
                <a:latin typeface="Open Sans"/>
                <a:ea typeface="Open Sans"/>
                <a:cs typeface="Open Sans"/>
                <a:sym typeface="Open Sans"/>
              </a:rPr>
              <a:t>Micro-Credential Courses</a:t>
            </a:r>
            <a:endParaRPr/>
          </a:p>
          <a:p>
            <a:pPr marL="1371600" lvl="2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000">
                <a:solidFill>
                  <a:srgbClr val="984807"/>
                </a:solidFill>
                <a:latin typeface="Open Sans"/>
                <a:ea typeface="Open Sans"/>
                <a:cs typeface="Open Sans"/>
                <a:sym typeface="Open Sans"/>
              </a:rPr>
              <a:t>Compilation of Duroos and Khutbaat using Gen AI</a:t>
            </a:r>
            <a:endParaRPr/>
          </a:p>
          <a:p>
            <a:pPr marL="1371600" lvl="2" indent="-2286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98480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78" name="Google Shape;178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79" name="Google Shape;179;p36"/>
          <p:cNvSpPr txBox="1">
            <a:spLocks noGrp="1"/>
          </p:cNvSpPr>
          <p:nvPr>
            <p:ph type="ftr" idx="11"/>
          </p:nvPr>
        </p:nvSpPr>
        <p:spPr>
          <a:xfrm>
            <a:off x="1688841" y="6356350"/>
            <a:ext cx="61022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Research Companion – A Recommender System for Novice Research Scholars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Benchmarking – Al Quran</a:t>
            </a:r>
            <a:endParaRPr/>
          </a:p>
        </p:txBody>
      </p:sp>
      <p:sp>
        <p:nvSpPr>
          <p:cNvPr id="185" name="Google Shape;185;p37"/>
          <p:cNvSpPr txBox="1">
            <a:spLocks noGrp="1"/>
          </p:cNvSpPr>
          <p:nvPr>
            <p:ph type="body" idx="1"/>
          </p:nvPr>
        </p:nvSpPr>
        <p:spPr>
          <a:xfrm>
            <a:off x="457200" y="141823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Al Quran</a:t>
            </a:r>
            <a:endParaRPr dirty="0"/>
          </a:p>
          <a:p>
            <a:pPr marL="914400" lvl="1" indent="-342900" algn="l" rtl="0">
              <a:lnSpc>
                <a:spcPct val="177777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Provides information like:</a:t>
            </a:r>
            <a:endParaRPr dirty="0"/>
          </a:p>
          <a:p>
            <a:pPr marL="1371600" lvl="2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solidFill>
                  <a:srgbClr val="984807"/>
                </a:solidFill>
                <a:latin typeface="Open Sans"/>
                <a:ea typeface="Open Sans"/>
                <a:cs typeface="Open Sans"/>
                <a:sym typeface="Open Sans"/>
              </a:rPr>
              <a:t>Quran with Translation</a:t>
            </a:r>
            <a:endParaRPr dirty="0">
              <a:solidFill>
                <a:srgbClr val="984807"/>
              </a:solidFill>
            </a:endParaRPr>
          </a:p>
          <a:p>
            <a:pPr marL="1371600" lvl="2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Quick links of most recite surahs</a:t>
            </a:r>
            <a:endParaRPr dirty="0"/>
          </a:p>
          <a:p>
            <a:pPr marL="1371600" lvl="2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Planners</a:t>
            </a:r>
            <a:endParaRPr dirty="0"/>
          </a:p>
          <a:p>
            <a:pPr marL="1828800" lvl="3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solidFill>
                  <a:srgbClr val="984807"/>
                </a:solidFill>
                <a:latin typeface="Open Sans"/>
                <a:ea typeface="Open Sans"/>
                <a:cs typeface="Open Sans"/>
                <a:sym typeface="Open Sans"/>
              </a:rPr>
              <a:t>Quran in a Month, 4 Months, Year</a:t>
            </a:r>
            <a:endParaRPr dirty="0"/>
          </a:p>
          <a:p>
            <a:pPr marL="1828800" lvl="3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solidFill>
                  <a:srgbClr val="984807"/>
                </a:solidFill>
                <a:latin typeface="Open Sans"/>
                <a:ea typeface="Open Sans"/>
                <a:cs typeface="Open Sans"/>
                <a:sym typeface="Open Sans"/>
              </a:rPr>
              <a:t>Understand the </a:t>
            </a:r>
            <a:r>
              <a:rPr lang="en-US" dirty="0" err="1">
                <a:solidFill>
                  <a:srgbClr val="984807"/>
                </a:solidFill>
                <a:latin typeface="Open Sans"/>
                <a:ea typeface="Open Sans"/>
                <a:cs typeface="Open Sans"/>
                <a:sym typeface="Open Sans"/>
              </a:rPr>
              <a:t>Juz</a:t>
            </a:r>
            <a:r>
              <a:rPr lang="en-US" dirty="0">
                <a:solidFill>
                  <a:srgbClr val="984807"/>
                </a:solidFill>
                <a:latin typeface="Open Sans"/>
                <a:ea typeface="Open Sans"/>
                <a:cs typeface="Open Sans"/>
                <a:sym typeface="Open Sans"/>
              </a:rPr>
              <a:t> 30</a:t>
            </a:r>
            <a:endParaRPr dirty="0"/>
          </a:p>
          <a:p>
            <a:pPr marL="1371600" lvl="2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solidFill>
                  <a:srgbClr val="984807"/>
                </a:solidFill>
                <a:latin typeface="Open Sans"/>
                <a:ea typeface="Open Sans"/>
                <a:cs typeface="Open Sans"/>
                <a:sym typeface="Open Sans"/>
              </a:rPr>
              <a:t>Quran Recite Stats and Streak</a:t>
            </a:r>
            <a:endParaRPr dirty="0"/>
          </a:p>
          <a:p>
            <a:pPr marL="1371600" lvl="2" indent="-2286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>
              <a:latin typeface="Open Sans"/>
              <a:ea typeface="Open Sans"/>
              <a:cs typeface="Open Sans"/>
              <a:sym typeface="Open Sans"/>
            </a:endParaRPr>
          </a:p>
          <a:p>
            <a:pPr marL="1371600" lvl="2" indent="-2286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186" name="Google Shape;186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87" name="Google Shape;187;p37"/>
          <p:cNvSpPr txBox="1">
            <a:spLocks noGrp="1"/>
          </p:cNvSpPr>
          <p:nvPr>
            <p:ph type="ftr" idx="11"/>
          </p:nvPr>
        </p:nvSpPr>
        <p:spPr>
          <a:xfrm>
            <a:off x="1688841" y="6356350"/>
            <a:ext cx="61022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Research Companion – A Recommender System for Novice Research Scholars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/>
              <a:t>Benchmarking – Al Quran</a:t>
            </a:r>
            <a:endParaRPr sz="2800"/>
          </a:p>
        </p:txBody>
      </p:sp>
      <p:sp>
        <p:nvSpPr>
          <p:cNvPr id="193" name="Google Shape;193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94" name="Google Shape;194;p38"/>
          <p:cNvSpPr txBox="1">
            <a:spLocks noGrp="1"/>
          </p:cNvSpPr>
          <p:nvPr>
            <p:ph type="ftr" idx="11"/>
          </p:nvPr>
        </p:nvSpPr>
        <p:spPr>
          <a:xfrm>
            <a:off x="1688841" y="6356350"/>
            <a:ext cx="61022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Research Companion – A Recommender System for Novice Research Scholars</a:t>
            </a:r>
            <a:endParaRPr/>
          </a:p>
        </p:txBody>
      </p:sp>
      <p:sp>
        <p:nvSpPr>
          <p:cNvPr id="195" name="Google Shape;195;p38"/>
          <p:cNvSpPr txBox="1"/>
          <p:nvPr/>
        </p:nvSpPr>
        <p:spPr>
          <a:xfrm>
            <a:off x="6349532" y="5427034"/>
            <a:ext cx="15506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1400"/>
              <a:buNone/>
              <a:defRPr sz="1800" b="1" u="sng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 Quran</a:t>
            </a:r>
            <a:endParaRPr dirty="0"/>
          </a:p>
        </p:txBody>
      </p:sp>
      <p:pic>
        <p:nvPicPr>
          <p:cNvPr id="196" name="Google Shape;196;p38"/>
          <p:cNvPicPr preferRelativeResize="0"/>
          <p:nvPr/>
        </p:nvPicPr>
        <p:blipFill rotWithShape="1">
          <a:blip r:embed="rId4">
            <a:alphaModFix/>
          </a:blip>
          <a:srcRect t="5144" r="836" b="7320"/>
          <a:stretch/>
        </p:blipFill>
        <p:spPr>
          <a:xfrm>
            <a:off x="1140483" y="1417638"/>
            <a:ext cx="2046210" cy="400939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7" name="Google Shape;197;p38"/>
          <p:cNvPicPr preferRelativeResize="0"/>
          <p:nvPr/>
        </p:nvPicPr>
        <p:blipFill rotWithShape="1">
          <a:blip r:embed="rId5">
            <a:alphaModFix/>
          </a:blip>
          <a:srcRect l="279" t="5388" r="-279" b="6015"/>
          <a:stretch/>
        </p:blipFill>
        <p:spPr>
          <a:xfrm>
            <a:off x="3440235" y="1398976"/>
            <a:ext cx="2046230" cy="40134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9" name="Google Shape;199;p38"/>
          <p:cNvPicPr preferRelativeResize="0"/>
          <p:nvPr/>
        </p:nvPicPr>
        <p:blipFill rotWithShape="1">
          <a:blip r:embed="rId6">
            <a:alphaModFix/>
          </a:blip>
          <a:srcRect l="836" t="5764" r="836" b="13283"/>
          <a:stretch/>
        </p:blipFill>
        <p:spPr>
          <a:xfrm>
            <a:off x="5776569" y="1343363"/>
            <a:ext cx="2123563" cy="4013393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Benchmarking – Al Quran</a:t>
            </a:r>
            <a:endParaRPr/>
          </a:p>
        </p:txBody>
      </p:sp>
      <p:sp>
        <p:nvSpPr>
          <p:cNvPr id="205" name="Google Shape;205;p39"/>
          <p:cNvSpPr txBox="1">
            <a:spLocks noGrp="1"/>
          </p:cNvSpPr>
          <p:nvPr>
            <p:ph type="body" idx="1"/>
          </p:nvPr>
        </p:nvSpPr>
        <p:spPr>
          <a:xfrm>
            <a:off x="457200" y="1608794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Al Quran</a:t>
            </a:r>
            <a:endParaRPr/>
          </a:p>
          <a:p>
            <a:pPr marL="914400" lvl="1" indent="-342900" algn="l" rtl="0">
              <a:lnSpc>
                <a:spcPct val="177777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However, it does not provide:</a:t>
            </a:r>
            <a:endParaRPr/>
          </a:p>
          <a:p>
            <a:pPr marL="1371600" lvl="2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Verses relevance with subject</a:t>
            </a:r>
            <a:endParaRPr/>
          </a:p>
          <a:p>
            <a:pPr marL="1371600" lvl="2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AI generated summary of subject</a:t>
            </a:r>
            <a:endParaRPr/>
          </a:p>
          <a:p>
            <a:pPr marL="1371600" lvl="2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Assessment of learning of subjects</a:t>
            </a:r>
            <a:endParaRPr/>
          </a:p>
          <a:p>
            <a:pPr marL="1371600" lvl="2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000">
                <a:solidFill>
                  <a:srgbClr val="984807"/>
                </a:solidFill>
                <a:latin typeface="Open Sans"/>
                <a:ea typeface="Open Sans"/>
                <a:cs typeface="Open Sans"/>
                <a:sym typeface="Open Sans"/>
              </a:rPr>
              <a:t>Micro-Credential Courses</a:t>
            </a:r>
            <a:endParaRPr/>
          </a:p>
          <a:p>
            <a:pPr marL="1371600" lvl="2" indent="-342900" algn="l" rtl="0">
              <a:lnSpc>
                <a:spcPct val="16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000">
                <a:solidFill>
                  <a:srgbClr val="984807"/>
                </a:solidFill>
                <a:latin typeface="Open Sans"/>
                <a:ea typeface="Open Sans"/>
                <a:cs typeface="Open Sans"/>
                <a:sym typeface="Open Sans"/>
              </a:rPr>
              <a:t>Compilation of Duroos and Khutbaat using Gen AI</a:t>
            </a:r>
            <a:endParaRPr/>
          </a:p>
          <a:p>
            <a:pPr marL="1371600" lvl="2" indent="-2286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98480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206" name="Google Shape;206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07" name="Google Shape;207;p39"/>
          <p:cNvSpPr txBox="1">
            <a:spLocks noGrp="1"/>
          </p:cNvSpPr>
          <p:nvPr>
            <p:ph type="ftr" idx="11"/>
          </p:nvPr>
        </p:nvSpPr>
        <p:spPr>
          <a:xfrm>
            <a:off x="1688841" y="6356350"/>
            <a:ext cx="61022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Research Companion – A Recommender System for Novice Research Scholars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Benchmarking – Summary Table</a:t>
            </a:r>
            <a:endParaRPr/>
          </a:p>
        </p:txBody>
      </p:sp>
      <p:sp>
        <p:nvSpPr>
          <p:cNvPr id="213" name="Google Shape;213;p7"/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49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Mudabbir - Subject Specific Study of Quran-ul-Hakeem</a:t>
            </a:r>
            <a:endParaRPr/>
          </a:p>
        </p:txBody>
      </p:sp>
      <p:sp>
        <p:nvSpPr>
          <p:cNvPr id="214" name="Google Shape;21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aphicFrame>
        <p:nvGraphicFramePr>
          <p:cNvPr id="215" name="Google Shape;215;p7"/>
          <p:cNvGraphicFramePr/>
          <p:nvPr>
            <p:extLst>
              <p:ext uri="{D42A27DB-BD31-4B8C-83A1-F6EECF244321}">
                <p14:modId xmlns:p14="http://schemas.microsoft.com/office/powerpoint/2010/main" val="3087931978"/>
              </p:ext>
            </p:extLst>
          </p:nvPr>
        </p:nvGraphicFramePr>
        <p:xfrm>
          <a:off x="297229" y="1271910"/>
          <a:ext cx="8549542" cy="4148840"/>
        </p:xfrm>
        <a:graphic>
          <a:graphicData uri="http://schemas.openxmlformats.org/drawingml/2006/table">
            <a:tbl>
              <a:tblPr firstRow="1" bandRow="1">
                <a:noFill/>
                <a:tableStyleId>{5B2C8E54-A33C-4995-8279-CF3CB48B92C2}</a:tableStyleId>
              </a:tblPr>
              <a:tblGrid>
                <a:gridCol w="3399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5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72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203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Features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Islam 360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Muslim Pro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 Quran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Mudabbir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B2B2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Quran with Translation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52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B2B2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Keyword / Topic Search (Voice-Enabled)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52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B2B2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Audio Tafseer Lectures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52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B2B2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Word by Word Quran Translation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B3261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✗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52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B2B2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AI Specific Topic Searching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B3261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✗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B3261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✗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52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B2B2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Verses relevance with the subjects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B3261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✗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B3261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✗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B3261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✗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 dirty="0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sz="14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52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B2B2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AI Generated Summary of subjects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B3261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✗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B3261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✗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B3261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✗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52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B2B2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Assessment of the learning of subjects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B3261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✗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B3261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✗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B3261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✗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952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B2B2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Micro Credential Courses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B3261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✗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B3261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✗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B3261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✗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6956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B2B2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Compilation of Duroos, &amp; Khutbaat using GenAI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B3261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✗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B3261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✗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rgbClr val="B3261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✗</a:t>
                      </a:r>
                      <a:endParaRPr sz="14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0" u="none" strike="noStrike" cap="none" dirty="0">
                          <a:solidFill>
                            <a:srgbClr val="1E7B4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sz="14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28575" marB="2857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"/>
          <p:cNvSpPr txBox="1">
            <a:spLocks noGrp="1"/>
          </p:cNvSpPr>
          <p:nvPr>
            <p:ph type="title"/>
          </p:nvPr>
        </p:nvSpPr>
        <p:spPr>
          <a:xfrm>
            <a:off x="914400" y="2148891"/>
            <a:ext cx="7772400" cy="191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latin typeface="Open Sans"/>
                <a:ea typeface="Open Sans"/>
                <a:cs typeface="Open Sans"/>
                <a:sym typeface="Open Sans"/>
              </a:rPr>
              <a:t>Gap Analysis / </a:t>
            </a:r>
            <a:br>
              <a:rPr lang="en-US" sz="4400"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4400">
                <a:latin typeface="Open Sans"/>
                <a:ea typeface="Open Sans"/>
                <a:cs typeface="Open Sans"/>
                <a:sym typeface="Open Sans"/>
              </a:rPr>
              <a:t>Problem Identification</a:t>
            </a:r>
            <a:endParaRPr/>
          </a:p>
        </p:txBody>
      </p:sp>
      <p:sp>
        <p:nvSpPr>
          <p:cNvPr id="221" name="Google Shape;221;p8"/>
          <p:cNvSpPr txBox="1">
            <a:spLocks noGrp="1"/>
          </p:cNvSpPr>
          <p:nvPr>
            <p:ph type="ftr" idx="11"/>
          </p:nvPr>
        </p:nvSpPr>
        <p:spPr>
          <a:xfrm>
            <a:off x="2854518" y="6356350"/>
            <a:ext cx="4047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Mudabbir - Subject Specific Study of Quran-ul-Hakeem</a:t>
            </a:r>
            <a:endParaRPr/>
          </a:p>
        </p:txBody>
      </p:sp>
      <p:sp>
        <p:nvSpPr>
          <p:cNvPr id="222" name="Google Shape;222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fld>
            <a:endParaRPr sz="14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 txBox="1">
            <a:spLocks noGrp="1"/>
          </p:cNvSpPr>
          <p:nvPr>
            <p:ph type="body" idx="1"/>
          </p:nvPr>
        </p:nvSpPr>
        <p:spPr>
          <a:xfrm>
            <a:off x="457200" y="1152939"/>
            <a:ext cx="8432700" cy="461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27050" lvl="0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Limitations of existing software applications for Learners:</a:t>
            </a:r>
            <a:endParaRPr/>
          </a:p>
          <a:p>
            <a:pPr marL="98425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Relevance of verses with a subject is not defined.</a:t>
            </a:r>
            <a:endParaRPr/>
          </a:p>
          <a:p>
            <a:pPr marL="98425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GenAI based summarization of Quranic subjects is unavailable.</a:t>
            </a:r>
            <a:endParaRPr/>
          </a:p>
          <a:p>
            <a:pPr marL="98425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Absence of learning assess facility of a Quranic subject.</a:t>
            </a:r>
            <a:endParaRPr/>
          </a:p>
          <a:p>
            <a:pPr marL="98425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Absence of micro-credential Quranic courses.</a:t>
            </a:r>
            <a:endParaRPr/>
          </a:p>
          <a:p>
            <a:pPr marL="98425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Lack of AI-assisted tools for content generation.</a:t>
            </a:r>
            <a:endParaRPr/>
          </a:p>
          <a:p>
            <a:pPr marL="98425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Lack of subject specific search facility</a:t>
            </a:r>
            <a:endParaRPr/>
          </a:p>
        </p:txBody>
      </p:sp>
      <p:sp>
        <p:nvSpPr>
          <p:cNvPr id="228" name="Google Shape;228;p9"/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49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Mudabbir - Subject Specific Study of Quran-ul-Hakeem</a:t>
            </a:r>
            <a:endParaRPr/>
          </a:p>
        </p:txBody>
      </p:sp>
      <p:sp>
        <p:nvSpPr>
          <p:cNvPr id="229" name="Google Shape;229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30" name="Google Shape;230;p9"/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Major Gaps / Limitations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>
            <a:spLocks noGrp="1"/>
          </p:cNvSpPr>
          <p:nvPr>
            <p:ph type="title"/>
          </p:nvPr>
        </p:nvSpPr>
        <p:spPr>
          <a:xfrm>
            <a:off x="914400" y="2407297"/>
            <a:ext cx="7772400" cy="166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latin typeface="Open Sans"/>
                <a:ea typeface="Open Sans"/>
                <a:cs typeface="Open Sans"/>
                <a:sym typeface="Open Sans"/>
              </a:rPr>
              <a:t>Problem Statement</a:t>
            </a:r>
            <a:endParaRPr/>
          </a:p>
        </p:txBody>
      </p:sp>
      <p:sp>
        <p:nvSpPr>
          <p:cNvPr id="236" name="Google Shape;236;p10"/>
          <p:cNvSpPr txBox="1">
            <a:spLocks noGrp="1"/>
          </p:cNvSpPr>
          <p:nvPr>
            <p:ph type="ftr" idx="11"/>
          </p:nvPr>
        </p:nvSpPr>
        <p:spPr>
          <a:xfrm>
            <a:off x="2854518" y="6356350"/>
            <a:ext cx="4047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Mudabbir - Subject Specific Study of Quran-ul-Hakeem</a:t>
            </a:r>
            <a:endParaRPr/>
          </a:p>
        </p:txBody>
      </p:sp>
      <p:sp>
        <p:nvSpPr>
          <p:cNvPr id="237" name="Google Shape;23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fld>
            <a:endParaRPr sz="14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 txBox="1">
            <a:spLocks noGrp="1"/>
          </p:cNvSpPr>
          <p:nvPr>
            <p:ph type="body" idx="1"/>
          </p:nvPr>
        </p:nvSpPr>
        <p:spPr>
          <a:xfrm>
            <a:off x="457200" y="1152939"/>
            <a:ext cx="8432700" cy="461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28575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Currently, the learners of Quran-</a:t>
            </a:r>
            <a:r>
              <a:rPr lang="en-US" sz="1800"/>
              <a:t>ul</a:t>
            </a: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-Hakeem need the following services:</a:t>
            </a:r>
            <a:endParaRPr/>
          </a:p>
          <a:p>
            <a:pPr marL="927100" lvl="1" indent="-28575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Technological assistance in subject-specific study.</a:t>
            </a:r>
            <a:endParaRPr>
              <a:solidFill>
                <a:srgbClr val="0070C0"/>
              </a:solidFill>
            </a:endParaRPr>
          </a:p>
          <a:p>
            <a:pPr marL="927100" lvl="1" indent="-28575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Subject-specific search of Quranic verses</a:t>
            </a:r>
            <a:endParaRPr>
              <a:solidFill>
                <a:srgbClr val="0070C0"/>
              </a:solidFill>
            </a:endParaRPr>
          </a:p>
          <a:p>
            <a:pPr marL="927100" lvl="1" indent="-28575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Relevance of verses with a subject</a:t>
            </a:r>
            <a:r>
              <a:rPr lang="en-US"/>
              <a:t> is not well-defined</a:t>
            </a:r>
            <a:r>
              <a:rPr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>
              <a:solidFill>
                <a:srgbClr val="0070C0"/>
              </a:solidFill>
            </a:endParaRPr>
          </a:p>
          <a:p>
            <a:pPr marL="927100" lvl="1" indent="-28575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GenAI based summarization of Quranic subjects.</a:t>
            </a:r>
            <a:endParaRPr>
              <a:solidFill>
                <a:srgbClr val="0070C0"/>
              </a:solidFill>
            </a:endParaRPr>
          </a:p>
          <a:p>
            <a:pPr marL="927100" lvl="1" indent="-28575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Automated learning and </a:t>
            </a:r>
            <a:r>
              <a:rPr lang="en-US"/>
              <a:t>assessment</a:t>
            </a:r>
            <a:r>
              <a:rPr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 of a Quranic subjects.</a:t>
            </a:r>
            <a:endParaRPr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27100" lvl="1" indent="-28575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Availability of micro-credential Quranic courses.</a:t>
            </a:r>
            <a:endParaRPr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27100" lvl="1" indent="-28575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AI-assisted tools for content generation.</a:t>
            </a:r>
            <a:endParaRPr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3" name="Google Shape;243;p11"/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49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Mudabbir - Subject Specific Study of Quran-ul-Hakeem</a:t>
            </a:r>
            <a:endParaRPr/>
          </a:p>
        </p:txBody>
      </p:sp>
      <p:sp>
        <p:nvSpPr>
          <p:cNvPr id="244" name="Google Shape;24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45" name="Google Shape;245;p11"/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Problem Statement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"/>
          <p:cNvSpPr txBox="1">
            <a:spLocks noGrp="1"/>
          </p:cNvSpPr>
          <p:nvPr>
            <p:ph type="title"/>
          </p:nvPr>
        </p:nvSpPr>
        <p:spPr>
          <a:xfrm>
            <a:off x="914400" y="2148891"/>
            <a:ext cx="7772400" cy="191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latin typeface="Open Sans"/>
                <a:ea typeface="Open Sans"/>
                <a:cs typeface="Open Sans"/>
                <a:sym typeface="Open Sans"/>
              </a:rPr>
              <a:t>Proposed Solution &amp; Methodology</a:t>
            </a:r>
            <a:endParaRPr sz="4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1" name="Google Shape;251;p12"/>
          <p:cNvSpPr txBox="1">
            <a:spLocks noGrp="1"/>
          </p:cNvSpPr>
          <p:nvPr>
            <p:ph type="ftr" idx="11"/>
          </p:nvPr>
        </p:nvSpPr>
        <p:spPr>
          <a:xfrm>
            <a:off x="2854518" y="6356350"/>
            <a:ext cx="4047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Mudabbir - Subject Specific Study of Quran-ul-Hakeem</a:t>
            </a:r>
            <a:endParaRPr/>
          </a:p>
        </p:txBody>
      </p:sp>
      <p:sp>
        <p:nvSpPr>
          <p:cNvPr id="252" name="Google Shape;25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fld>
            <a:endParaRPr sz="14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5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Mudabbir - Subject Specific Study of Quran-il-Hakeem</a:t>
            </a:r>
            <a:endParaRPr/>
          </a:p>
        </p:txBody>
      </p:sp>
      <p:sp>
        <p:nvSpPr>
          <p:cNvPr id="258" name="Google Shape;25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59" name="Google Shape;259;p13"/>
          <p:cNvSpPr txBox="1"/>
          <p:nvPr/>
        </p:nvSpPr>
        <p:spPr>
          <a:xfrm>
            <a:off x="457200" y="1101375"/>
            <a:ext cx="8432700" cy="461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28575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Development of a web-base software application along with a smartphone application to provide the following services: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250" marR="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Technological assistance in subject-specific study.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250" marR="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Subject-specific search of Quranic verses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250" marR="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Relevance of verses with a subject.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250" marR="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GenAI based summarization of Quranic subjects.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250" marR="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Automated learning and assessment of a Quranic subjects.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250" marR="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Availability of micro-credential Quranic courses.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250" marR="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AI-assisted tools for content generation.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3"/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Proposed Solution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/>
          <p:cNvSpPr txBox="1">
            <a:spLocks noGrp="1"/>
          </p:cNvSpPr>
          <p:nvPr>
            <p:ph type="title"/>
          </p:nvPr>
        </p:nvSpPr>
        <p:spPr>
          <a:xfrm>
            <a:off x="914400" y="2407297"/>
            <a:ext cx="7772400" cy="166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latin typeface="Open Sans"/>
                <a:ea typeface="Open Sans"/>
                <a:cs typeface="Open Sans"/>
                <a:sym typeface="Open Sans"/>
              </a:rPr>
              <a:t>Project Scope</a:t>
            </a:r>
            <a:endParaRPr sz="4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14"/>
          <p:cNvSpPr txBox="1">
            <a:spLocks noGrp="1"/>
          </p:cNvSpPr>
          <p:nvPr>
            <p:ph type="ftr" idx="11"/>
          </p:nvPr>
        </p:nvSpPr>
        <p:spPr>
          <a:xfrm>
            <a:off x="2854518" y="6356350"/>
            <a:ext cx="4047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Mudabbir - Subject Specific Study of Quran-ul-Hakeem</a:t>
            </a:r>
            <a:endParaRPr/>
          </a:p>
        </p:txBody>
      </p:sp>
      <p:sp>
        <p:nvSpPr>
          <p:cNvPr id="267" name="Google Shape;267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23</a:t>
            </a:fld>
            <a:endParaRPr sz="14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"/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49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Mudabbir - Subject Specific Study of Quran-il-Hakeem</a:t>
            </a:r>
            <a:endParaRPr/>
          </a:p>
        </p:txBody>
      </p:sp>
      <p:sp>
        <p:nvSpPr>
          <p:cNvPr id="273" name="Google Shape;27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74" name="Google Shape;274;p15"/>
          <p:cNvSpPr txBox="1"/>
          <p:nvPr/>
        </p:nvSpPr>
        <p:spPr>
          <a:xfrm>
            <a:off x="172872" y="1141566"/>
            <a:ext cx="8561609" cy="4576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28575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intended software applications shall have the following scope: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250" marR="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Subject specific learning.</a:t>
            </a:r>
            <a:endParaRPr/>
          </a:p>
          <a:p>
            <a:pPr marL="1441450" marR="0" lvl="2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Trivial services like Qibla direction, Salah time etc. Shall not be covered.</a:t>
            </a:r>
            <a:endParaRPr/>
          </a:p>
          <a:p>
            <a:pPr marL="984250" marR="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Relevance of verses with subject.</a:t>
            </a: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84250" marR="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Automated learning and assessment services will be primarily for the young Muslims learners.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250" marR="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AI-assisted tools for content generation, shall explore only authentic content verified by scholars.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5"/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Scope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"/>
          <p:cNvSpPr txBox="1">
            <a:spLocks noGrp="1"/>
          </p:cNvSpPr>
          <p:nvPr>
            <p:ph type="title"/>
          </p:nvPr>
        </p:nvSpPr>
        <p:spPr>
          <a:xfrm>
            <a:off x="914400" y="2148891"/>
            <a:ext cx="7772400" cy="191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latin typeface="Open Sans"/>
                <a:ea typeface="Open Sans"/>
                <a:cs typeface="Open Sans"/>
                <a:sym typeface="Open Sans"/>
              </a:rPr>
              <a:t>Constraints &amp; </a:t>
            </a:r>
            <a:br>
              <a:rPr lang="en-US" sz="4400"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4400">
                <a:latin typeface="Open Sans"/>
                <a:ea typeface="Open Sans"/>
                <a:cs typeface="Open Sans"/>
                <a:sym typeface="Open Sans"/>
              </a:rPr>
              <a:t>Limitations</a:t>
            </a:r>
            <a:endParaRPr sz="4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1" name="Google Shape;281;p16"/>
          <p:cNvSpPr txBox="1">
            <a:spLocks noGrp="1"/>
          </p:cNvSpPr>
          <p:nvPr>
            <p:ph type="ftr" idx="11"/>
          </p:nvPr>
        </p:nvSpPr>
        <p:spPr>
          <a:xfrm>
            <a:off x="2854518" y="6356350"/>
            <a:ext cx="4047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Mudabbir - Subject Specific Study of Quran-ul-Hakeem</a:t>
            </a:r>
            <a:endParaRPr/>
          </a:p>
        </p:txBody>
      </p:sp>
      <p:sp>
        <p:nvSpPr>
          <p:cNvPr id="282" name="Google Shape;28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25</a:t>
            </a:fld>
            <a:endParaRPr sz="14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"/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49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Mudabbir - Subject Specific Study of Quran-il-Hakeem</a:t>
            </a:r>
            <a:endParaRPr/>
          </a:p>
        </p:txBody>
      </p:sp>
      <p:sp>
        <p:nvSpPr>
          <p:cNvPr id="288" name="Google Shape;28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89" name="Google Shape;289;p17"/>
          <p:cNvSpPr txBox="1"/>
          <p:nvPr/>
        </p:nvSpPr>
        <p:spPr>
          <a:xfrm>
            <a:off x="457200" y="1152939"/>
            <a:ext cx="8432700" cy="4576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27050" marR="0" lvl="0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intended software applications shall have following limitations: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250" marR="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They shall provide the learning content in two languages: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441450" marR="0" lvl="2" indent="-34290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Urdu, and English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250" marR="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Verse relevance ranking requires scholar involvement.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250" marR="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Initially we shall offer only 5 subject of Quran.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250" marR="0" lvl="1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Relevance</a:t>
            </a:r>
            <a:r>
              <a:rPr lang="en-US"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of subject specific verses require scholar assistance.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11250" marR="0" lvl="1" indent="-215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17"/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Constraints &amp; Limitations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0"/>
          <p:cNvSpPr txBox="1">
            <a:spLocks noGrp="1"/>
          </p:cNvSpPr>
          <p:nvPr>
            <p:ph type="title"/>
          </p:nvPr>
        </p:nvSpPr>
        <p:spPr>
          <a:xfrm>
            <a:off x="914400" y="2407297"/>
            <a:ext cx="7772400" cy="166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latin typeface="Open Sans"/>
                <a:ea typeface="Open Sans"/>
                <a:cs typeface="Open Sans"/>
                <a:sym typeface="Open Sans"/>
              </a:rPr>
              <a:t>Work Breakdown / Roles </a:t>
            </a:r>
            <a:endParaRPr sz="4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6" name="Google Shape;296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27</a:t>
            </a:fld>
            <a:endParaRPr sz="14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7" name="Google Shape;297;p40"/>
          <p:cNvSpPr txBox="1">
            <a:spLocks noGrp="1"/>
          </p:cNvSpPr>
          <p:nvPr>
            <p:ph type="ftr" idx="11"/>
          </p:nvPr>
        </p:nvSpPr>
        <p:spPr>
          <a:xfrm>
            <a:off x="1621743" y="6356350"/>
            <a:ext cx="5900513" cy="354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Research Companion – A Recommender System for Novice Research Scholars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303" name="Google Shape;303;p41"/>
          <p:cNvSpPr txBox="1"/>
          <p:nvPr/>
        </p:nvSpPr>
        <p:spPr>
          <a:xfrm>
            <a:off x="457200" y="1152939"/>
            <a:ext cx="8432700" cy="4576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6100" marR="0" lvl="0" indent="-139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03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p41"/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Work Breakdown Structure </a:t>
            </a:r>
            <a:endParaRPr/>
          </a:p>
        </p:txBody>
      </p:sp>
      <p:sp>
        <p:nvSpPr>
          <p:cNvPr id="305" name="Google Shape;305;p41"/>
          <p:cNvSpPr txBox="1">
            <a:spLocks noGrp="1"/>
          </p:cNvSpPr>
          <p:nvPr>
            <p:ph type="ftr" idx="11"/>
          </p:nvPr>
        </p:nvSpPr>
        <p:spPr>
          <a:xfrm>
            <a:off x="1621743" y="6356350"/>
            <a:ext cx="5900513" cy="354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Research Companion – A Recommender System for Novice Research Scholars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306" name="Google Shape;30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3839" y="1355179"/>
            <a:ext cx="7399422" cy="4096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312" name="Google Shape;312;p42"/>
          <p:cNvSpPr txBox="1"/>
          <p:nvPr/>
        </p:nvSpPr>
        <p:spPr>
          <a:xfrm>
            <a:off x="457200" y="1152939"/>
            <a:ext cx="8432700" cy="4576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3" name="Google Shape;313;p42"/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Roles</a:t>
            </a:r>
            <a:endParaRPr/>
          </a:p>
        </p:txBody>
      </p:sp>
      <p:sp>
        <p:nvSpPr>
          <p:cNvPr id="314" name="Google Shape;314;p42"/>
          <p:cNvSpPr txBox="1">
            <a:spLocks noGrp="1"/>
          </p:cNvSpPr>
          <p:nvPr>
            <p:ph type="ftr" idx="11"/>
          </p:nvPr>
        </p:nvSpPr>
        <p:spPr>
          <a:xfrm>
            <a:off x="1621743" y="6356350"/>
            <a:ext cx="5900513" cy="354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Research Companion – A Recommender System for Novice Research Scholars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315" name="Google Shape;315;p42"/>
          <p:cNvGraphicFramePr/>
          <p:nvPr/>
        </p:nvGraphicFramePr>
        <p:xfrm>
          <a:off x="1476374" y="1776015"/>
          <a:ext cx="6191250" cy="3305975"/>
        </p:xfrm>
        <a:graphic>
          <a:graphicData uri="http://schemas.openxmlformats.org/drawingml/2006/table">
            <a:tbl>
              <a:tblPr>
                <a:noFill/>
                <a:tableStyleId>{5B2C8E54-A33C-4995-8279-CF3CB48B92C2}</a:tableStyleId>
              </a:tblPr>
              <a:tblGrid>
                <a:gridCol w="186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5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Zain Ali </a:t>
                      </a:r>
                      <a:r>
                        <a:rPr lang="en-US" sz="16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– Team Leader &amp; Developer</a:t>
                      </a:r>
                      <a:endParaRPr sz="1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BS Computer Science</a:t>
                      </a:r>
                      <a:br>
                        <a:rPr lang="en-US" sz="1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lang="en-US" sz="1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Riphah International University, Islamabad</a:t>
                      </a:r>
                      <a:endParaRPr sz="18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Contact No.: +92 3266295094</a:t>
                      </a:r>
                      <a:endParaRPr sz="18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Email Address: </a:t>
                      </a: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57113@students.riphah.edu.pk</a:t>
                      </a:r>
                      <a:endParaRPr sz="18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Contribution(s)</a:t>
                      </a:r>
                      <a:endParaRPr sz="1400" u="none" strike="noStrike" cap="none"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Team Leader of the FYP development team.</a:t>
                      </a:r>
                      <a:endParaRPr sz="18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Selected and responsible for the Full-Stack Web Application Development. </a:t>
                      </a:r>
                      <a:endParaRPr sz="1400" u="none" strike="noStrike" cap="none"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Selected and responsible for the Web Application Integration.</a:t>
                      </a:r>
                      <a:endParaRPr sz="1400" u="none" strike="noStrike" cap="none"/>
                    </a:p>
                    <a:p>
                      <a:pPr marL="342900" marR="0" lvl="0" indent="-266700" algn="l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16" name="Google Shape;31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5512" y="1942239"/>
            <a:ext cx="1598482" cy="1598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322" name="Google Shape;322;p43"/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Roles</a:t>
            </a:r>
            <a:endParaRPr/>
          </a:p>
        </p:txBody>
      </p:sp>
      <p:sp>
        <p:nvSpPr>
          <p:cNvPr id="323" name="Google Shape;323;p43"/>
          <p:cNvSpPr txBox="1">
            <a:spLocks noGrp="1"/>
          </p:cNvSpPr>
          <p:nvPr>
            <p:ph type="ftr" idx="11"/>
          </p:nvPr>
        </p:nvSpPr>
        <p:spPr>
          <a:xfrm>
            <a:off x="1621743" y="6356350"/>
            <a:ext cx="5900513" cy="354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Research Companion – A Recommender System for Novice Research Scholars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324" name="Google Shape;324;p43"/>
          <p:cNvGraphicFramePr/>
          <p:nvPr/>
        </p:nvGraphicFramePr>
        <p:xfrm>
          <a:off x="1476374" y="1776015"/>
          <a:ext cx="6191250" cy="3305975"/>
        </p:xfrm>
        <a:graphic>
          <a:graphicData uri="http://schemas.openxmlformats.org/drawingml/2006/table">
            <a:tbl>
              <a:tblPr>
                <a:noFill/>
                <a:tableStyleId>{5B2C8E54-A33C-4995-8279-CF3CB48B92C2}</a:tableStyleId>
              </a:tblPr>
              <a:tblGrid>
                <a:gridCol w="186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5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Ehtisham Hussain </a:t>
                      </a:r>
                      <a:r>
                        <a:rPr lang="en-US" sz="16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– Developer</a:t>
                      </a:r>
                      <a:endParaRPr sz="1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BS Computer Science</a:t>
                      </a:r>
                      <a:br>
                        <a:rPr lang="en-US" sz="1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lang="en-US" sz="1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Riphah International University, Islamabad</a:t>
                      </a:r>
                      <a:endParaRPr sz="18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Contact No.: +92 3165366937</a:t>
                      </a:r>
                      <a:endParaRPr sz="18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Email Address: </a:t>
                      </a: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56305@students.riphah.edu.pk</a:t>
                      </a:r>
                      <a:endParaRPr sz="18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Contribution(s)</a:t>
                      </a:r>
                      <a:endParaRPr sz="18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Selected and responsible for the Application Development. </a:t>
                      </a:r>
                      <a:endParaRPr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Selected and responsible for the Application Integration.</a:t>
                      </a:r>
                      <a:endParaRPr/>
                    </a:p>
                    <a:p>
                      <a:pPr marL="342900" marR="0" lvl="0" indent="-266700" algn="l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endParaRPr sz="1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25" name="Google Shape;325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2071" y="1899271"/>
            <a:ext cx="1594271" cy="2131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331" name="Google Shape;331;p44"/>
          <p:cNvSpPr txBox="1"/>
          <p:nvPr/>
        </p:nvSpPr>
        <p:spPr>
          <a:xfrm>
            <a:off x="457200" y="1152939"/>
            <a:ext cx="8432700" cy="4576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2" name="Google Shape;332;p44"/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Roles</a:t>
            </a:r>
            <a:endParaRPr/>
          </a:p>
        </p:txBody>
      </p:sp>
      <p:sp>
        <p:nvSpPr>
          <p:cNvPr id="333" name="Google Shape;333;p44"/>
          <p:cNvSpPr txBox="1">
            <a:spLocks noGrp="1"/>
          </p:cNvSpPr>
          <p:nvPr>
            <p:ph type="ftr" idx="11"/>
          </p:nvPr>
        </p:nvSpPr>
        <p:spPr>
          <a:xfrm>
            <a:off x="1621743" y="6356350"/>
            <a:ext cx="5900513" cy="354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Research Companion – A Recommender System for Novice Research Scholars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334" name="Google Shape;334;p44"/>
          <p:cNvGraphicFramePr/>
          <p:nvPr/>
        </p:nvGraphicFramePr>
        <p:xfrm>
          <a:off x="1476374" y="1776015"/>
          <a:ext cx="6191250" cy="3305975"/>
        </p:xfrm>
        <a:graphic>
          <a:graphicData uri="http://schemas.openxmlformats.org/drawingml/2006/table">
            <a:tbl>
              <a:tblPr>
                <a:noFill/>
                <a:tableStyleId>{5B2C8E54-A33C-4995-8279-CF3CB48B92C2}</a:tableStyleId>
              </a:tblPr>
              <a:tblGrid>
                <a:gridCol w="186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5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Waleed Ahmad </a:t>
                      </a:r>
                      <a:r>
                        <a:rPr lang="en-US" sz="16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– Developer</a:t>
                      </a:r>
                      <a:endParaRPr sz="1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BS Computer Science</a:t>
                      </a:r>
                      <a:br>
                        <a:rPr lang="en-US" sz="1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lang="en-US" sz="1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Riphah International University, Islamabad</a:t>
                      </a:r>
                      <a:endParaRPr sz="18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Contact No.: +92 3125494970</a:t>
                      </a:r>
                      <a:endParaRPr sz="18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Email Address: </a:t>
                      </a: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56336@students.riphah.edu.pk</a:t>
                      </a:r>
                      <a:endParaRPr sz="18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Contribution(s)</a:t>
                      </a:r>
                      <a:endParaRPr sz="18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Selected and responsible for the Backend and Database.</a:t>
                      </a:r>
                      <a:endParaRPr sz="1400" u="none" strike="noStrike" cap="none"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Selected and responsible for the Integration of the Backend and Database.</a:t>
                      </a:r>
                      <a:endParaRPr sz="1400" u="none" strike="noStrike" cap="none"/>
                    </a:p>
                    <a:p>
                      <a:pPr marL="342900" marR="0" lvl="0" indent="-266700" algn="l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endParaRPr sz="1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35" name="Google Shape;335;p44"/>
          <p:cNvPicPr preferRelativeResize="0"/>
          <p:nvPr/>
        </p:nvPicPr>
        <p:blipFill rotWithShape="1">
          <a:blip r:embed="rId3">
            <a:alphaModFix/>
          </a:blip>
          <a:srcRect l="32830" t="24436" r="35094" b="45113"/>
          <a:stretch/>
        </p:blipFill>
        <p:spPr>
          <a:xfrm>
            <a:off x="1551613" y="1912263"/>
            <a:ext cx="1685584" cy="1609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8"/>
          <p:cNvSpPr txBox="1">
            <a:spLocks noGrp="1"/>
          </p:cNvSpPr>
          <p:nvPr>
            <p:ph type="body" idx="1"/>
          </p:nvPr>
        </p:nvSpPr>
        <p:spPr>
          <a:xfrm>
            <a:off x="1586204" y="2304660"/>
            <a:ext cx="5943600" cy="161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41350" lvl="1" indent="0" algn="ct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000">
                <a:latin typeface="Open Sans"/>
                <a:ea typeface="Open Sans"/>
                <a:cs typeface="Open Sans"/>
                <a:sym typeface="Open Sans"/>
              </a:rPr>
              <a:t>Questions ?</a:t>
            </a:r>
            <a:endParaRPr/>
          </a:p>
          <a:p>
            <a:pPr marL="641350" lvl="1" indent="0" algn="ct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000">
                <a:latin typeface="Open Sans"/>
                <a:ea typeface="Open Sans"/>
                <a:cs typeface="Open Sans"/>
                <a:sym typeface="Open Sans"/>
              </a:rPr>
              <a:t>Suggestions !</a:t>
            </a:r>
            <a:endParaRPr/>
          </a:p>
          <a:p>
            <a:pPr marL="64135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endParaRPr sz="4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/>
          </a:p>
        </p:txBody>
      </p:sp>
      <p:sp>
        <p:nvSpPr>
          <p:cNvPr id="341" name="Google Shape;341;p18"/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49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Mudabbir - Subject Specific Study of Quran-ul-Hakeem</a:t>
            </a:r>
            <a:endParaRPr/>
          </a:p>
        </p:txBody>
      </p:sp>
      <p:sp>
        <p:nvSpPr>
          <p:cNvPr id="342" name="Google Shape;342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343" name="Google Shape;343;p18"/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Thank You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1262</Words>
  <Application>Microsoft Office PowerPoint</Application>
  <PresentationFormat>On-screen Show (4:3)</PresentationFormat>
  <Paragraphs>284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Calibri</vt:lpstr>
      <vt:lpstr>Open Sans</vt:lpstr>
      <vt:lpstr>Noto Sans Symbols</vt:lpstr>
      <vt:lpstr>Arial</vt:lpstr>
      <vt:lpstr>Office Theme</vt:lpstr>
      <vt:lpstr>Final Year Project Proposal</vt:lpstr>
      <vt:lpstr>Project Team</vt:lpstr>
      <vt:lpstr>Contents</vt:lpstr>
      <vt:lpstr>Introduction &amp;  Background</vt:lpstr>
      <vt:lpstr>Introduction &amp; Background</vt:lpstr>
      <vt:lpstr>Benchmarking</vt:lpstr>
      <vt:lpstr>Benchmarking – Islam 360</vt:lpstr>
      <vt:lpstr>Benchmarking – Islam 360</vt:lpstr>
      <vt:lpstr>Benchmarking – Islam 360</vt:lpstr>
      <vt:lpstr>Benchmarking – Muslim Pro</vt:lpstr>
      <vt:lpstr>Benchmarking – Muslim Pro</vt:lpstr>
      <vt:lpstr>Benchmarking – Muslim Pro</vt:lpstr>
      <vt:lpstr>Benchmarking – Al Quran</vt:lpstr>
      <vt:lpstr>Benchmarking – Al Quran</vt:lpstr>
      <vt:lpstr>Benchmarking – Al Quran</vt:lpstr>
      <vt:lpstr>Benchmarking – Summary Table</vt:lpstr>
      <vt:lpstr>Gap Analysis /  Problem Identification</vt:lpstr>
      <vt:lpstr>Major Gaps / Limitations</vt:lpstr>
      <vt:lpstr>Problem Statement</vt:lpstr>
      <vt:lpstr>Problem Statement</vt:lpstr>
      <vt:lpstr>Proposed Solution &amp; Methodology</vt:lpstr>
      <vt:lpstr>Proposed Solution</vt:lpstr>
      <vt:lpstr>Project Scope</vt:lpstr>
      <vt:lpstr>Project Scope</vt:lpstr>
      <vt:lpstr>Constraints &amp;  Limitations</vt:lpstr>
      <vt:lpstr>Constraints &amp; Limitations</vt:lpstr>
      <vt:lpstr>Work Breakdown / Roles </vt:lpstr>
      <vt:lpstr>Work Breakdown Structure </vt:lpstr>
      <vt:lpstr>Roles</vt:lpstr>
      <vt:lpstr>Roles</vt:lpstr>
      <vt:lpstr>Roles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Sajid</cp:lastModifiedBy>
  <cp:revision>8</cp:revision>
  <dcterms:modified xsi:type="dcterms:W3CDTF">2026-09-17T03:59:12Z</dcterms:modified>
</cp:coreProperties>
</file>